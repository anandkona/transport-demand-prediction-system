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9" r:id="rId4"/>
    <p:sldId id="270" r:id="rId5"/>
    <p:sldId id="259" r:id="rId6"/>
    <p:sldId id="260" r:id="rId7"/>
    <p:sldId id="261" r:id="rId8"/>
    <p:sldId id="271"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EA9F3-6A14-4F2F-9422-61E18D76DF2A}" v="5" dt="2024-10-26T02:50:09.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7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9FF873E-1F93-4264-ACA4-BC179786E4E6}" type="datetimeFigureOut">
              <a:rPr lang="en-IN" smtClean="0"/>
              <a:t>26-10-2024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FF873E-1F93-4264-ACA4-BC179786E4E6}" type="datetimeFigureOut">
              <a:rPr lang="en-IN" smtClean="0"/>
              <a:t>26-10-2024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F873E-1F93-4264-ACA4-BC179786E4E6}" type="datetimeFigureOut">
              <a:rPr lang="en-IN" smtClean="0"/>
              <a:t>26-10-2024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9FF873E-1F93-4264-ACA4-BC179786E4E6}" type="datetimeFigureOut">
              <a:rPr lang="en-IN" smtClean="0"/>
              <a:t>26-10-2024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9FF873E-1F93-4264-ACA4-BC179786E4E6}" type="datetimeFigureOut">
              <a:rPr lang="en-IN" smtClean="0"/>
              <a:t>26-10-2024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9FF873E-1F93-4264-ACA4-BC179786E4E6}" type="datetimeFigureOut">
              <a:rPr lang="en-IN" smtClean="0"/>
              <a:t>26-10-2024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F873E-1F93-4264-ACA4-BC179786E4E6}" type="datetimeFigureOut">
              <a:rPr lang="en-IN" smtClean="0"/>
              <a:t>26-10-2024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F873E-1F93-4264-ACA4-BC179786E4E6}" type="datetimeFigureOut">
              <a:rPr lang="en-IN" smtClean="0"/>
              <a:t>26-10-2024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F873E-1F93-4264-ACA4-BC179786E4E6}" type="datetimeFigureOut">
              <a:rPr lang="en-IN" smtClean="0"/>
              <a:t>26-10-2024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FF873E-1F93-4264-ACA4-BC179786E4E6}" type="datetimeFigureOut">
              <a:rPr lang="en-IN" smtClean="0"/>
              <a:t>26-10-2024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FF873E-1F93-4264-ACA4-BC179786E4E6}" type="datetimeFigureOut">
              <a:rPr lang="en-IN" smtClean="0"/>
              <a:t>26-10-2024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AA7F68-9D40-40C1-9BE2-20F8C58F2F6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FF873E-1F93-4264-ACA4-BC179786E4E6}" type="datetimeFigureOut">
              <a:rPr lang="en-IN" smtClean="0"/>
              <a:t>26-10-2024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A7F68-9D40-40C1-9BE2-20F8C58F2F6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380971"/>
            <a:ext cx="9144000" cy="2387600"/>
          </a:xfrm>
        </p:spPr>
        <p:txBody>
          <a:bodyPr>
            <a:normAutofit fontScale="90000"/>
          </a:bodyPr>
          <a:lstStyle/>
          <a:p>
            <a:r>
              <a:rPr lang="en-IN" sz="2700" b="1" dirty="0">
                <a:latin typeface="Times New Roman" panose="02020603050405020304" pitchFamily="18" charset="0"/>
                <a:cs typeface="Times New Roman" panose="02020603050405020304" pitchFamily="18" charset="0"/>
              </a:rPr>
              <a:t>DADI INSTITUTE OF ENGINEERING &amp; TECHNOLOGY</a:t>
            </a:r>
            <a:br>
              <a:rPr lang="en-IN" sz="2700" b="1" dirty="0">
                <a:latin typeface="Times New Roman" panose="02020603050405020304" pitchFamily="18" charset="0"/>
                <a:cs typeface="Times New Roman" panose="02020603050405020304" pitchFamily="18" charset="0"/>
              </a:rPr>
            </a:br>
            <a:r>
              <a:rPr lang="en-US" sz="2700" b="1" u="sng" spc="50" dirty="0">
                <a:ln w="0"/>
                <a:effectLst>
                  <a:innerShdw blurRad="63500" dist="50800" dir="13500000">
                    <a:srgbClr val="000000">
                      <a:alpha val="50000"/>
                    </a:srgbClr>
                  </a:innerShdw>
                </a:effectLst>
                <a:latin typeface="Bell MT" panose="02020503060305020303" pitchFamily="18" charset="0"/>
              </a:rPr>
              <a:t>T</a:t>
            </a:r>
            <a:r>
              <a:rPr lang="en-IN" sz="2700" b="1" u="sng" spc="50" dirty="0">
                <a:ln w="0"/>
                <a:effectLst>
                  <a:innerShdw blurRad="63500" dist="50800" dir="13500000">
                    <a:srgbClr val="000000">
                      <a:alpha val="50000"/>
                    </a:srgbClr>
                  </a:innerShdw>
                </a:effectLst>
                <a:latin typeface="Bell MT" panose="02020503060305020303" pitchFamily="18" charset="0"/>
              </a:rPr>
              <a:t>RANSPORTATION DEMAND FORECASTING</a:t>
            </a:r>
            <a:br>
              <a:rPr lang="en-IN" sz="2700" b="1" u="sng" spc="50" dirty="0">
                <a:ln w="0"/>
                <a:effectLst>
                  <a:innerShdw blurRad="63500" dist="50800" dir="13500000">
                    <a:srgbClr val="000000">
                      <a:alpha val="50000"/>
                    </a:srgbClr>
                  </a:innerShdw>
                </a:effectLst>
                <a:latin typeface="Bell MT" panose="02020503060305020303" pitchFamily="18" charset="0"/>
              </a:rPr>
            </a:br>
            <a:r>
              <a:rPr lang="en-IN" sz="2400" spc="50" dirty="0">
                <a:ln w="0"/>
                <a:effectLst>
                  <a:innerShdw blurRad="63500" dist="50800" dir="13500000">
                    <a:srgbClr val="000000">
                      <a:alpha val="50000"/>
                    </a:srgbClr>
                  </a:innerShdw>
                </a:effectLst>
                <a:latin typeface="Bell MT" panose="02020503060305020303" pitchFamily="18" charset="0"/>
              </a:rPr>
              <a:t>By</a:t>
            </a:r>
            <a:br>
              <a:rPr lang="en-IN" sz="2400" b="1" u="sng" spc="50" dirty="0">
                <a:ln w="0"/>
                <a:effectLst>
                  <a:innerShdw blurRad="63500" dist="50800" dir="13500000">
                    <a:srgbClr val="000000">
                      <a:alpha val="50000"/>
                    </a:srgbClr>
                  </a:innerShdw>
                </a:effectLst>
                <a:latin typeface="Bell MT" panose="02020503060305020303" pitchFamily="18" charset="0"/>
              </a:rPr>
            </a:br>
            <a:br>
              <a:rPr lang="en-IN" sz="2400" b="1" u="sng" spc="50" dirty="0">
                <a:ln w="0"/>
                <a:effectLst>
                  <a:innerShdw blurRad="63500" dist="50800" dir="13500000">
                    <a:srgbClr val="000000">
                      <a:alpha val="50000"/>
                    </a:srgbClr>
                  </a:innerShdw>
                </a:effectLst>
                <a:latin typeface="Bell MT" panose="02020503060305020303" pitchFamily="18" charset="0"/>
              </a:rPr>
            </a:br>
            <a:r>
              <a:rPr lang="en-IN" sz="2400" dirty="0">
                <a:latin typeface="Times New Roman" panose="02020603050405020304" pitchFamily="18" charset="0"/>
                <a:cs typeface="Times New Roman" panose="02020603050405020304" pitchFamily="18" charset="0"/>
              </a:rPr>
              <a:t>ELLA KUMAR SWAMY         (21U41A0510)</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KONA ANAND                        (21U41A0523)</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DOSURU SRAVANTHI           (22U45A0501)</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VILLURI SASI VARDHAN     (22U45A0513)</a:t>
            </a:r>
            <a:br>
              <a:rPr lang="en-IN" sz="800" dirty="0">
                <a:solidFill>
                  <a:schemeClr val="bg1"/>
                </a:solidFill>
                <a:latin typeface="Times New Roman" panose="02020603050405020304" pitchFamily="18" charset="0"/>
                <a:cs typeface="Times New Roman" panose="02020603050405020304" pitchFamily="18" charset="0"/>
              </a:rPr>
            </a:br>
            <a:br>
              <a:rPr lang="en-IN" sz="800" dirty="0">
                <a:solidFill>
                  <a:schemeClr val="bg1"/>
                </a:solidFill>
                <a:latin typeface="Times New Roman" panose="02020603050405020304" pitchFamily="18" charset="0"/>
                <a:cs typeface="Times New Roman" panose="02020603050405020304" pitchFamily="18" charset="0"/>
              </a:rPr>
            </a:br>
            <a:br>
              <a:rPr lang="en-IN" sz="800" dirty="0">
                <a:solidFill>
                  <a:schemeClr val="bg1"/>
                </a:solidFill>
                <a:latin typeface="Times New Roman" panose="02020603050405020304" pitchFamily="18" charset="0"/>
                <a:cs typeface="Times New Roman" panose="02020603050405020304" pitchFamily="18" charset="0"/>
              </a:rPr>
            </a:br>
            <a:r>
              <a:rPr lang="en-US" sz="800" dirty="0">
                <a:solidFill>
                  <a:srgbClr val="00AF50"/>
                </a:solidFill>
                <a:latin typeface="Times New Roman" panose="02020603050405020304"/>
                <a:cs typeface="Times New Roman" panose="02020603050405020304"/>
              </a:rPr>
              <a:t> </a:t>
            </a:r>
            <a:r>
              <a:rPr lang="en-US" sz="1200" dirty="0">
                <a:latin typeface="Times New Roman" panose="02020603050405020304"/>
                <a:cs typeface="Times New Roman" panose="02020603050405020304"/>
              </a:rPr>
              <a:t>Under</a:t>
            </a:r>
            <a:r>
              <a:rPr lang="en-US" sz="800" spc="-30" dirty="0">
                <a:latin typeface="Times New Roman" panose="02020603050405020304"/>
                <a:cs typeface="Times New Roman" panose="02020603050405020304"/>
              </a:rPr>
              <a:t> </a:t>
            </a:r>
            <a:r>
              <a:rPr lang="en-US" sz="1100" dirty="0">
                <a:latin typeface="Times New Roman" panose="02020603050405020304"/>
                <a:cs typeface="Times New Roman" panose="02020603050405020304"/>
              </a:rPr>
              <a:t>the</a:t>
            </a:r>
            <a:r>
              <a:rPr lang="en-US" sz="800" spc="-30" dirty="0">
                <a:latin typeface="Times New Roman" panose="02020603050405020304"/>
                <a:cs typeface="Times New Roman" panose="02020603050405020304"/>
              </a:rPr>
              <a:t> </a:t>
            </a:r>
            <a:r>
              <a:rPr lang="en-US" sz="1100" dirty="0">
                <a:latin typeface="Times New Roman" panose="02020603050405020304"/>
                <a:cs typeface="Times New Roman" panose="02020603050405020304"/>
              </a:rPr>
              <a:t>Supervision</a:t>
            </a:r>
            <a:r>
              <a:rPr lang="en-US" sz="800" spc="-55" dirty="0">
                <a:latin typeface="Times New Roman" panose="02020603050405020304"/>
                <a:cs typeface="Times New Roman" panose="02020603050405020304"/>
              </a:rPr>
              <a:t> </a:t>
            </a:r>
            <a:r>
              <a:rPr lang="en-US" sz="1100" spc="-25" dirty="0">
                <a:latin typeface="Times New Roman" panose="02020603050405020304"/>
                <a:cs typeface="Times New Roman" panose="02020603050405020304"/>
              </a:rPr>
              <a:t>of</a:t>
            </a:r>
            <a:r>
              <a:rPr lang="en-US" sz="800" spc="-25" dirty="0">
                <a:latin typeface="Times New Roman" panose="02020603050405020304"/>
                <a:cs typeface="Times New Roman" panose="02020603050405020304"/>
              </a:rPr>
              <a:t> </a:t>
            </a:r>
            <a:br>
              <a:rPr lang="en-US" sz="800" spc="-25" dirty="0">
                <a:latin typeface="Times New Roman" panose="02020603050405020304"/>
                <a:cs typeface="Times New Roman" panose="02020603050405020304"/>
              </a:rPr>
            </a:br>
            <a:br>
              <a:rPr lang="en-IN" sz="2400" b="1" dirty="0">
                <a:latin typeface="Times New Roman" panose="02020603050405020304" pitchFamily="18" charset="0"/>
                <a:cs typeface="Times New Roman" panose="02020603050405020304" pitchFamily="18" charset="0"/>
              </a:rPr>
            </a:br>
            <a:endParaRPr lang="en-IN" sz="2400" dirty="0"/>
          </a:p>
        </p:txBody>
      </p:sp>
      <p:sp>
        <p:nvSpPr>
          <p:cNvPr id="3" name="Subtitle 2"/>
          <p:cNvSpPr>
            <a:spLocks noGrp="1"/>
          </p:cNvSpPr>
          <p:nvPr>
            <p:ph type="subTitle" idx="1"/>
          </p:nvPr>
        </p:nvSpPr>
        <p:spPr>
          <a:xfrm>
            <a:off x="2400299" y="3731572"/>
            <a:ext cx="7391400" cy="643577"/>
          </a:xfrm>
        </p:spPr>
        <p:txBody>
          <a:bodyPr/>
          <a:lstStyle/>
          <a:p>
            <a:r>
              <a:rPr lang="en-IN" dirty="0">
                <a:latin typeface="Times New Roman" panose="02020603050405020304"/>
                <a:cs typeface="Times New Roman" panose="02020603050405020304"/>
              </a:rPr>
              <a:t>Dadi Institute of Engineering &amp; Technology</a:t>
            </a:r>
          </a:p>
          <a:p>
            <a:endParaRPr lang="en-IN" dirty="0"/>
          </a:p>
        </p:txBody>
      </p:sp>
      <p:sp>
        <p:nvSpPr>
          <p:cNvPr id="4" name="Rectangle 3"/>
          <p:cNvSpPr/>
          <p:nvPr/>
        </p:nvSpPr>
        <p:spPr>
          <a:xfrm>
            <a:off x="3048000" y="3093090"/>
            <a:ext cx="6096000" cy="671821"/>
          </a:xfrm>
          <a:prstGeom prst="rect">
            <a:avLst/>
          </a:prstGeom>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000" dirty="0">
                <a:latin typeface="Bookman Old Style" panose="02050604050505020204" pitchFamily="18" charset="0"/>
                <a:cs typeface="Arial" panose="020B0604020202020204" pitchFamily="34" charset="0"/>
              </a:rPr>
              <a:t> </a:t>
            </a:r>
            <a:r>
              <a:rPr lang="en-IN" b="1" kern="100" dirty="0">
                <a:latin typeface="Times New Roman" panose="02020603050405020304" pitchFamily="18" charset="0"/>
                <a:ea typeface="Cambria" panose="02040503050406030204" pitchFamily="18" charset="0"/>
                <a:cs typeface="Times New Roman" panose="02020603050405020304" pitchFamily="18" charset="0"/>
              </a:rPr>
              <a:t>Mrs. </a:t>
            </a:r>
            <a:r>
              <a:rPr lang="en-IN" b="1" kern="100" dirty="0">
                <a:latin typeface="Times New Roman" panose="02020603050405020304" pitchFamily="18" charset="0"/>
                <a:ea typeface="Calibri" panose="020F0502020204030204" pitchFamily="34" charset="0"/>
                <a:cs typeface="Times New Roman" panose="02020603050405020304" pitchFamily="18" charset="0"/>
              </a:rPr>
              <a:t>T.SANTOSHI LAKSMHI</a:t>
            </a:r>
            <a:endParaRPr lang="en-IN" sz="2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Assistant professor, CSE</a:t>
            </a: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5310187" y="4087812"/>
            <a:ext cx="1571625" cy="1152525"/>
          </a:xfrm>
          <a:prstGeom prst="rect">
            <a:avLst/>
          </a:prstGeom>
        </p:spPr>
      </p:pic>
      <p:sp>
        <p:nvSpPr>
          <p:cNvPr id="8" name="TextBox 7"/>
          <p:cNvSpPr txBox="1"/>
          <p:nvPr/>
        </p:nvSpPr>
        <p:spPr>
          <a:xfrm>
            <a:off x="1876009" y="5240337"/>
            <a:ext cx="8023363" cy="1469633"/>
          </a:xfrm>
          <a:prstGeom prst="rect">
            <a:avLst/>
          </a:prstGeom>
          <a:noFill/>
        </p:spPr>
        <p:txBody>
          <a:bodyPr wrap="square">
            <a:spAutoFit/>
          </a:bodyPr>
          <a:lstStyle/>
          <a:p>
            <a:pPr algn="ctr">
              <a:lnSpc>
                <a:spcPts val="2145"/>
              </a:lnSpc>
            </a:pPr>
            <a:r>
              <a:rPr lang="en-US" b="1" spc="-10" dirty="0">
                <a:latin typeface="Times New Roman" panose="02020603050405020304"/>
                <a:cs typeface="Times New Roman" panose="02020603050405020304"/>
              </a:rPr>
              <a:t>DEPARTMENT OF ELECTRONICS &amp; COMMUNICATION ENGINEERING</a:t>
            </a:r>
            <a:endParaRPr lang="en-US" dirty="0">
              <a:latin typeface="Times New Roman" panose="02020603050405020304"/>
              <a:cs typeface="Times New Roman" panose="02020603050405020304"/>
            </a:endParaRPr>
          </a:p>
          <a:p>
            <a:pPr algn="ctr">
              <a:lnSpc>
                <a:spcPct val="100000"/>
              </a:lnSpc>
            </a:pPr>
            <a:r>
              <a:rPr lang="en-US" b="1" dirty="0">
                <a:latin typeface="Times New Roman" panose="02020603050405020304"/>
                <a:cs typeface="Times New Roman" panose="02020603050405020304"/>
              </a:rPr>
              <a:t>DADI INSTITUTE OF ENGINEERING &amp; TECHNOLOGY</a:t>
            </a:r>
          </a:p>
          <a:p>
            <a:pPr algn="ctr">
              <a:lnSpc>
                <a:spcPct val="100000"/>
              </a:lnSpc>
            </a:pPr>
            <a:r>
              <a:rPr lang="en-US" b="1" spc="-10" dirty="0">
                <a:latin typeface="Times New Roman" panose="02020603050405020304"/>
                <a:cs typeface="Times New Roman" panose="02020603050405020304"/>
              </a:rPr>
              <a:t>(AN AUTONOMOUS INSTITUTE) </a:t>
            </a:r>
          </a:p>
          <a:p>
            <a:pPr algn="ctr">
              <a:lnSpc>
                <a:spcPct val="100000"/>
              </a:lnSpc>
            </a:pPr>
            <a:r>
              <a:rPr lang="en-US" b="1" spc="-10" dirty="0">
                <a:latin typeface="Times New Roman" panose="02020603050405020304"/>
                <a:cs typeface="Times New Roman" panose="02020603050405020304"/>
              </a:rPr>
              <a:t>ANAKAPALLE - 531002, VISAKHAPATNAM, A.P. </a:t>
            </a:r>
          </a:p>
          <a:p>
            <a:pPr algn="ctr">
              <a:lnSpc>
                <a:spcPct val="100000"/>
              </a:lnSpc>
            </a:pPr>
            <a:r>
              <a:rPr lang="en-US" b="1" spc="-10" dirty="0">
                <a:latin typeface="Times New Roman" panose="02020603050405020304"/>
                <a:cs typeface="Times New Roman" panose="02020603050405020304"/>
              </a:rPr>
              <a:t>MARCH - 2024</a:t>
            </a:r>
            <a:endParaRPr lang="en-US"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485"/>
            <a:ext cx="10515600" cy="806244"/>
          </a:xfrm>
        </p:spPr>
        <p:txBody>
          <a:bodyPr>
            <a:normAutofit/>
          </a:bodyPr>
          <a:lstStyle/>
          <a:p>
            <a:r>
              <a:rPr lang="en-IN" sz="40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806245"/>
            <a:ext cx="10515600" cy="5574890"/>
          </a:xfrm>
        </p:spPr>
        <p:txBody>
          <a:bodyPr>
            <a:normAutofit fontScale="70000" lnSpcReduction="20000"/>
          </a:bodyPr>
          <a:lstStyle/>
          <a:p>
            <a:pPr marL="0" indent="0" algn="just">
              <a:lnSpc>
                <a:spcPct val="120000"/>
              </a:lnSpc>
              <a:buNone/>
            </a:pPr>
            <a:r>
              <a:rPr lang="en-US" b="1" dirty="0">
                <a:latin typeface="Times New Roman" panose="02020603050405020304" pitchFamily="18" charset="0"/>
                <a:cs typeface="Times New Roman" panose="02020603050405020304" pitchFamily="18" charset="0"/>
              </a:rPr>
              <a:t>Transportation demand prediction </a:t>
            </a:r>
            <a:r>
              <a:rPr lang="en-US" dirty="0">
                <a:latin typeface="Times New Roman" panose="02020603050405020304" pitchFamily="18" charset="0"/>
                <a:cs typeface="Times New Roman" panose="02020603050405020304" pitchFamily="18" charset="0"/>
              </a:rPr>
              <a:t>is a critical component for effective urban planning and infrastructure management. Accurate forecasting of transportation needs allows for optimized resource allocation, improved service delivery, and enhanced sustainability . DA4PT (Data Analytics for Public Transport), for discovering the factors that influence travelers in booking and purchasing bus tickets. </a:t>
            </a:r>
            <a:r>
              <a:rPr lang="en-US" b="1" dirty="0">
                <a:latin typeface="Times New Roman" panose="02020603050405020304" pitchFamily="18" charset="0"/>
                <a:cs typeface="Times New Roman" panose="02020603050405020304" pitchFamily="18" charset="0"/>
              </a:rPr>
              <a:t>DA4PT</a:t>
            </a:r>
            <a:r>
              <a:rPr lang="en-US" dirty="0">
                <a:latin typeface="Times New Roman" panose="02020603050405020304" pitchFamily="18" charset="0"/>
                <a:cs typeface="Times New Roman" panose="02020603050405020304" pitchFamily="18" charset="0"/>
              </a:rPr>
              <a:t> focuses on analyzing transportation data to inform planning decisions, Transportation Demand Prediction uses  machine learning and statistical modeling, to predict future transportation demand. Random Forest Regression model is used to examine correlations between factors and ticket sales using historical booking </a:t>
            </a:r>
            <a:r>
              <a:rPr lang="en-US" dirty="0" err="1">
                <a:latin typeface="Times New Roman" panose="02020603050405020304" pitchFamily="18" charset="0"/>
                <a:cs typeface="Times New Roman" panose="02020603050405020304" pitchFamily="18" charset="0"/>
              </a:rPr>
              <a:t>data.Refined</a:t>
            </a:r>
            <a:r>
              <a:rPr lang="en-US" dirty="0">
                <a:latin typeface="Times New Roman" panose="02020603050405020304" pitchFamily="18" charset="0"/>
                <a:cs typeface="Times New Roman" panose="02020603050405020304" pitchFamily="18" charset="0"/>
              </a:rPr>
              <a:t> Random Forest Regression model offers a reliable foundation for forecasting ticket sales by Mean Absolute Error  ,Mean Squared Error, R-squared value of , RMSPE and by various statistical metrics . Deploying the model with Random Forest Regressor with the parameters with 3 fold cross validation. I found that for training data there is a R2 score of 63.46% which means the model has predicted well on the </a:t>
            </a:r>
            <a:r>
              <a:rPr lang="en-US" dirty="0" err="1">
                <a:latin typeface="Times New Roman" panose="02020603050405020304" pitchFamily="18" charset="0"/>
                <a:cs typeface="Times New Roman" panose="02020603050405020304" pitchFamily="18" charset="0"/>
              </a:rPr>
              <a:t>datapoints.This</a:t>
            </a:r>
            <a:r>
              <a:rPr lang="en-US" dirty="0">
                <a:latin typeface="Times New Roman" panose="02020603050405020304" pitchFamily="18" charset="0"/>
                <a:cs typeface="Times New Roman" panose="02020603050405020304" pitchFamily="18" charset="0"/>
              </a:rPr>
              <a:t> leads to low bias. Also the model has a R2 score of 63.93%. The variance in model is also low. The ticket booking platform can enhance revenue by utilizing these insights to optimize methods and generate additional revenue streams by incorporating these data into their business plan.</a:t>
            </a:r>
          </a:p>
          <a:p>
            <a:pPr marL="0" indent="0">
              <a:buNone/>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Transportation, Travel Time Analysis , Random Forest Regression , Revenue                                  Sales Prediction</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67BE4-35DA-22F4-B10D-D52DB505F8A9}"/>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13B0584-C124-E5E5-0FDD-C2595BF1C8E3}"/>
              </a:ext>
            </a:extLst>
          </p:cNvPr>
          <p:cNvSpPr>
            <a:spLocks noGrp="1"/>
          </p:cNvSpPr>
          <p:nvPr>
            <p:ph idx="1"/>
          </p:nvPr>
        </p:nvSpPr>
        <p:spPr>
          <a:xfrm>
            <a:off x="838200" y="1690688"/>
            <a:ext cx="10515600" cy="3903867"/>
          </a:xfrm>
        </p:spPr>
        <p:txBody>
          <a:bodyPr/>
          <a:lstStyle/>
          <a:p>
            <a:pPr marL="0" indent="0" algn="just">
              <a:lnSpc>
                <a:spcPct val="150000"/>
              </a:lnSpc>
              <a:spcBef>
                <a:spcPts val="1400"/>
              </a:spcBef>
              <a:spcAft>
                <a:spcPts val="1400"/>
              </a:spcAft>
              <a:buNone/>
            </a:pPr>
            <a:r>
              <a:rPr lang="en-US" sz="1800" dirty="0">
                <a:effectLst/>
                <a:latin typeface="Times New Roman" panose="02020603050405020304" pitchFamily="18" charset="0"/>
              </a:rPr>
              <a:t>The project "Ticket Booking Using Regression" addresses the growing need for efficient and intelligent ticket management systems across various industries, such as airlines, railways, and entertainment. Ticket booking trends are influenced by numerous factors, including seasonal variations, special events, pricing strategies, and customer behavior. Traditional methods of managing ticket allocation often fall short in accurately predicting demand, leading to either overbooking or underutilization of resources. This project leverages the power of regression analysis to develop a predictive model that optimizes ticket booking and enhances overall operational efficiency.</a:t>
            </a:r>
            <a:endParaRPr lang="en-US" sz="1800" dirty="0">
              <a:effectLst/>
              <a:latin typeface="Calibri" panose="020F0502020204030204" pitchFamily="34" charset="0"/>
            </a:endParaRPr>
          </a:p>
        </p:txBody>
      </p:sp>
    </p:spTree>
    <p:extLst>
      <p:ext uri="{BB962C8B-B14F-4D97-AF65-F5344CB8AC3E}">
        <p14:creationId xmlns:p14="http://schemas.microsoft.com/office/powerpoint/2010/main" val="1362866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D550-0F74-BED4-D0A5-4E1501133E43}"/>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Problem Definition</a:t>
            </a:r>
          </a:p>
        </p:txBody>
      </p:sp>
      <p:sp>
        <p:nvSpPr>
          <p:cNvPr id="3" name="Content Placeholder 2">
            <a:extLst>
              <a:ext uri="{FF2B5EF4-FFF2-40B4-BE49-F238E27FC236}">
                <a16:creationId xmlns:a16="http://schemas.microsoft.com/office/drawing/2014/main" id="{4770BF44-8C67-24E7-0237-66C02ED2D861}"/>
              </a:ext>
            </a:extLst>
          </p:cNvPr>
          <p:cNvSpPr>
            <a:spLocks noGrp="1"/>
          </p:cNvSpPr>
          <p:nvPr>
            <p:ph idx="1"/>
          </p:nvPr>
        </p:nvSpPr>
        <p:spPr/>
        <p:txBody>
          <a:bodyPr/>
          <a:lstStyle/>
          <a:p>
            <a:pPr marL="0" indent="0" algn="just">
              <a:lnSpc>
                <a:spcPct val="107000"/>
              </a:lnSpc>
              <a:spcBef>
                <a:spcPts val="1400"/>
              </a:spcBef>
              <a:spcAft>
                <a:spcPts val="1400"/>
              </a:spcAft>
              <a:buNone/>
            </a:pPr>
            <a:r>
              <a:rPr lang="en-US" sz="1800" dirty="0">
                <a:effectLst/>
                <a:latin typeface="Times New Roman" panose="02020603050405020304" pitchFamily="18" charset="0"/>
                <a:cs typeface="Times New Roman" panose="02020603050405020304" pitchFamily="18" charset="0"/>
              </a:rPr>
              <a:t>The primary problem addressed by this project is the lack of accurate and reliable forecasting for ticket bookings. Current systems may rely on simplistic or outdated methods that fail to account for complex patterns and trends in booking data. This can lead to inefficiencies in inventory management, revenue optimization, and customer satisfaction.</a:t>
            </a:r>
            <a:endParaRPr lang="en-US" sz="1800" dirty="0">
              <a:latin typeface="Times New Roman" panose="02020603050405020304" pitchFamily="18" charset="0"/>
              <a:cs typeface="Times New Roman" panose="02020603050405020304" pitchFamily="18" charset="0"/>
            </a:endParaRPr>
          </a:p>
          <a:p>
            <a:pPr marL="0" indent="0" algn="just">
              <a:lnSpc>
                <a:spcPct val="107000"/>
              </a:lnSpc>
              <a:spcBef>
                <a:spcPts val="1400"/>
              </a:spcBef>
              <a:spcAft>
                <a:spcPts val="1400"/>
              </a:spcAft>
              <a:buNone/>
            </a:pPr>
            <a:r>
              <a:rPr lang="en-US" sz="1800" dirty="0">
                <a:effectLst/>
                <a:latin typeface="Times New Roman" panose="02020603050405020304" pitchFamily="18" charset="0"/>
              </a:rPr>
              <a:t>Specifically, the problems include:</a:t>
            </a:r>
            <a:endParaRPr lang="en-US" sz="1800" dirty="0">
              <a:effectLst/>
              <a:latin typeface="Calibri" panose="020F0502020204030204" pitchFamily="34" charset="0"/>
            </a:endParaRPr>
          </a:p>
          <a:p>
            <a:pPr marL="342900" lvl="0" indent="-342900" algn="just">
              <a:lnSpc>
                <a:spcPct val="107000"/>
              </a:lnSpc>
              <a:spcBef>
                <a:spcPts val="1400"/>
              </a:spcBef>
              <a:spcAft>
                <a:spcPts val="0"/>
              </a:spcAft>
              <a:buFont typeface="Noto Sans Symbols"/>
              <a:buChar char="●"/>
            </a:pPr>
            <a:r>
              <a:rPr lang="en-US" sz="1800" b="1" dirty="0">
                <a:effectLst/>
                <a:latin typeface="Times New Roman" panose="02020603050405020304" pitchFamily="18" charset="0"/>
              </a:rPr>
              <a:t>Inaccurate Predictions</a:t>
            </a:r>
            <a:r>
              <a:rPr lang="en-US" sz="1800" dirty="0">
                <a:effectLst/>
                <a:latin typeface="Times New Roman" panose="02020603050405020304" pitchFamily="18" charset="0"/>
              </a:rPr>
              <a:t>: Existing methods may not capture the intricacies of booking trends, leading to unreliable forecasts.</a:t>
            </a:r>
            <a:endParaRPr lang="en-US" sz="1800" dirty="0">
              <a:effectLst/>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800" b="1" dirty="0">
                <a:effectLst/>
                <a:latin typeface="Times New Roman" panose="02020603050405020304" pitchFamily="18" charset="0"/>
              </a:rPr>
              <a:t>Inefficient Resource Allocation</a:t>
            </a:r>
            <a:r>
              <a:rPr lang="en-US" sz="1800" dirty="0">
                <a:effectLst/>
                <a:latin typeface="Times New Roman" panose="02020603050405020304" pitchFamily="18" charset="0"/>
              </a:rPr>
              <a:t>: Poor predictions can result in either overbooking or </a:t>
            </a:r>
            <a:r>
              <a:rPr lang="en-US" sz="1800" dirty="0" err="1">
                <a:effectLst/>
                <a:latin typeface="Times New Roman" panose="02020603050405020304" pitchFamily="18" charset="0"/>
              </a:rPr>
              <a:t>underbooking</a:t>
            </a:r>
            <a:r>
              <a:rPr lang="en-US" sz="1800" dirty="0">
                <a:effectLst/>
                <a:latin typeface="Times New Roman" panose="02020603050405020304" pitchFamily="18" charset="0"/>
              </a:rPr>
              <a:t>, affecting operational efficiency and customer satisfaction.</a:t>
            </a:r>
            <a:endParaRPr lang="en-US" sz="1800" dirty="0">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800" b="1" dirty="0">
                <a:effectLst/>
                <a:latin typeface="Times New Roman" panose="02020603050405020304" pitchFamily="18" charset="0"/>
              </a:rPr>
              <a:t>Limited Data Utilization</a:t>
            </a:r>
            <a:r>
              <a:rPr lang="en-US" sz="1800" dirty="0">
                <a:effectLst/>
                <a:latin typeface="Times New Roman" panose="02020603050405020304" pitchFamily="18" charset="0"/>
              </a:rPr>
              <a:t>: Traditional systems may not fully leverage historical data or external factors that influence booking patterns.</a:t>
            </a:r>
            <a:endParaRPr lang="en-US" sz="1800" dirty="0">
              <a:effectLst/>
              <a:latin typeface="Calibri" panose="020F0502020204030204" pitchFamily="34" charset="0"/>
            </a:endParaRPr>
          </a:p>
          <a:p>
            <a:endParaRPr lang="en-IN" dirty="0"/>
          </a:p>
        </p:txBody>
      </p:sp>
    </p:spTree>
    <p:extLst>
      <p:ext uri="{BB962C8B-B14F-4D97-AF65-F5344CB8AC3E}">
        <p14:creationId xmlns:p14="http://schemas.microsoft.com/office/powerpoint/2010/main" val="201443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4245" y="1307689"/>
            <a:ext cx="10515600" cy="5351527"/>
          </a:xfrm>
        </p:spPr>
        <p:txBody>
          <a:bodyPr>
            <a:no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DA4PT </a:t>
            </a:r>
            <a:r>
              <a:rPr lang="en-US" sz="1800" dirty="0">
                <a:latin typeface="Times New Roman" panose="02020603050405020304" pitchFamily="18" charset="0"/>
                <a:cs typeface="Times New Roman" panose="02020603050405020304" pitchFamily="18" charset="0"/>
                <a:sym typeface="+mn-ea"/>
              </a:rPr>
              <a:t>(Data Analytics for Public Transport)is a widely used model in transportation planning. DA4PT, for</a:t>
            </a:r>
          </a:p>
          <a:p>
            <a:pPr algn="just">
              <a:lnSpc>
                <a:spcPct val="100000"/>
              </a:lnSpc>
              <a:buNone/>
            </a:pPr>
            <a:r>
              <a:rPr lang="en-US" sz="1800" dirty="0">
                <a:latin typeface="Times New Roman" panose="02020603050405020304" pitchFamily="18" charset="0"/>
                <a:cs typeface="Times New Roman" panose="02020603050405020304" pitchFamily="18" charset="0"/>
                <a:sym typeface="+mn-ea"/>
              </a:rPr>
              <a:t>discovering the factors that influence travelers in booking and purchasing bus tickets. DA4PT focuses on </a:t>
            </a:r>
          </a:p>
          <a:p>
            <a:pPr algn="just">
              <a:lnSpc>
                <a:spcPct val="100000"/>
              </a:lnSpc>
              <a:buNone/>
            </a:pPr>
            <a:r>
              <a:rPr lang="en-US" sz="1800" dirty="0">
                <a:latin typeface="Times New Roman" panose="02020603050405020304" pitchFamily="18" charset="0"/>
                <a:cs typeface="Times New Roman" panose="02020603050405020304" pitchFamily="18" charset="0"/>
                <a:sym typeface="+mn-ea"/>
              </a:rPr>
              <a:t>analyzing transportation data to inform planning decisions.</a:t>
            </a:r>
            <a:r>
              <a:rPr lang="en-US" sz="1800" b="1" dirty="0">
                <a:latin typeface="Times New Roman" panose="02020603050405020304" pitchFamily="18" charset="0"/>
                <a:cs typeface="Times New Roman" panose="02020603050405020304" pitchFamily="18" charset="0"/>
                <a:sym typeface="+mn-ea"/>
              </a:rPr>
              <a:t>    </a:t>
            </a:r>
            <a:endParaRPr lang="en-US" sz="1800" dirty="0">
              <a:latin typeface="Times New Roman" panose="02020603050405020304" pitchFamily="18" charset="0"/>
              <a:cs typeface="Times New Roman" panose="02020603050405020304" pitchFamily="18" charset="0"/>
            </a:endParaRPr>
          </a:p>
          <a:p>
            <a:pPr algn="just">
              <a:buNone/>
            </a:pPr>
            <a:r>
              <a:rPr lang="en-US" sz="1800" b="1" dirty="0">
                <a:latin typeface="Times New Roman" panose="02020603050405020304" pitchFamily="18" charset="0"/>
                <a:cs typeface="Times New Roman" panose="02020603050405020304" pitchFamily="18" charset="0"/>
                <a:sym typeface="+mn-ea"/>
              </a:rPr>
              <a:t> Models Used in existing systems:</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pPr algn="just">
              <a:buNone/>
            </a:pPr>
            <a:endParaRPr lang="en-US" sz="1800" dirty="0"/>
          </a:p>
          <a:p>
            <a:pPr algn="just">
              <a:buNone/>
            </a:pPr>
            <a:endParaRPr lang="en-US" sz="1800" dirty="0"/>
          </a:p>
          <a:p>
            <a:pPr algn="just">
              <a:buNone/>
            </a:pPr>
            <a:endParaRPr lang="en-US" sz="1800" dirty="0"/>
          </a:p>
          <a:p>
            <a:pPr algn="just">
              <a:buNone/>
            </a:pPr>
            <a:endParaRPr lang="en-US" sz="1800" dirty="0"/>
          </a:p>
          <a:p>
            <a:pPr algn="just">
              <a:buNone/>
            </a:pPr>
            <a:r>
              <a:rPr lang="en-US" sz="1800" b="1" dirty="0">
                <a:latin typeface="Times New Roman" panose="02020603050405020304" pitchFamily="18" charset="0"/>
                <a:cs typeface="Times New Roman" panose="02020603050405020304" pitchFamily="18" charset="0"/>
                <a:sym typeface="+mn-ea"/>
              </a:rPr>
              <a:t>Drawbacks of DA4PT:</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1.Limited to small data  </a:t>
            </a:r>
            <a:endParaRPr lang="en-US" sz="1800" dirty="0">
              <a:latin typeface="Times New Roman" panose="02020603050405020304" pitchFamily="18" charset="0"/>
              <a:cs typeface="Times New Roman" panose="02020603050405020304" pitchFamily="18" charset="0"/>
            </a:endParaRPr>
          </a:p>
          <a:p>
            <a:pPr algn="just">
              <a:buNone/>
            </a:pPr>
            <a:r>
              <a:rPr lang="en-US" sz="1800" dirty="0">
                <a:sym typeface="+mn-ea"/>
              </a:rPr>
              <a:t>2. </a:t>
            </a:r>
            <a:r>
              <a:rPr lang="en-US" sz="1800" dirty="0">
                <a:latin typeface="Times New Roman" panose="02020603050405020304" pitchFamily="18" charset="0"/>
                <a:cs typeface="Times New Roman" panose="02020603050405020304" pitchFamily="18" charset="0"/>
                <a:sym typeface="+mn-ea"/>
              </a:rPr>
              <a:t>Less accuracy ,</a:t>
            </a:r>
            <a:endParaRPr lang="en-US" sz="1800"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3.Not adaptable                     </a:t>
            </a:r>
            <a:endParaRPr lang="en-US" sz="1800" dirty="0">
              <a:latin typeface="Times New Roman" panose="02020603050405020304" pitchFamily="18" charset="0"/>
              <a:cs typeface="Times New Roman" panose="02020603050405020304" pitchFamily="18" charset="0"/>
            </a:endParaRPr>
          </a:p>
          <a:p>
            <a:pPr algn="just">
              <a:buNone/>
            </a:pPr>
            <a:r>
              <a:rPr lang="en-US" sz="1800" dirty="0">
                <a:latin typeface="Times New Roman" panose="02020603050405020304" pitchFamily="18" charset="0"/>
                <a:cs typeface="Times New Roman" panose="02020603050405020304" pitchFamily="18" charset="0"/>
                <a:sym typeface="+mn-ea"/>
              </a:rPr>
              <a:t>4. Less suitable for long term prediction</a:t>
            </a:r>
            <a:endParaRPr lang="en-US" sz="1800" dirty="0">
              <a:latin typeface="Times New Roman" panose="02020603050405020304" pitchFamily="18" charset="0"/>
              <a:cs typeface="Times New Roman" panose="02020603050405020304" pitchFamily="18" charset="0"/>
            </a:endParaRPr>
          </a:p>
          <a:p>
            <a:pPr algn="just"/>
            <a:endParaRPr lang="en-IN" sz="1800" dirty="0"/>
          </a:p>
          <a:p>
            <a:endParaRPr lang="en-IN" sz="1800" dirty="0"/>
          </a:p>
        </p:txBody>
      </p:sp>
      <p:sp>
        <p:nvSpPr>
          <p:cNvPr id="5" name="Title 4"/>
          <p:cNvSpPr>
            <a:spLocks noGrp="1"/>
          </p:cNvSpPr>
          <p:nvPr>
            <p:ph type="title"/>
          </p:nvPr>
        </p:nvSpPr>
        <p:spPr>
          <a:xfrm>
            <a:off x="838200" y="365125"/>
            <a:ext cx="10515600" cy="709005"/>
          </a:xfrm>
        </p:spPr>
        <p:txBody>
          <a:bodyPr>
            <a:normAutofit/>
          </a:bodyPr>
          <a:lstStyle/>
          <a:p>
            <a:r>
              <a:rPr lang="en-IN" sz="4000" b="1" dirty="0">
                <a:latin typeface="Times New Roman" panose="02020603050405020304" pitchFamily="18" charset="0"/>
                <a:cs typeface="Times New Roman" panose="02020603050405020304" pitchFamily="18" charset="0"/>
              </a:rPr>
              <a:t>Existing System</a:t>
            </a:r>
          </a:p>
        </p:txBody>
      </p:sp>
      <p:pic>
        <p:nvPicPr>
          <p:cNvPr id="7" name="Picture 6" descr="A screenshot of a graph">
            <a:extLst>
              <a:ext uri="{FF2B5EF4-FFF2-40B4-BE49-F238E27FC236}">
                <a16:creationId xmlns:a16="http://schemas.microsoft.com/office/drawing/2014/main" id="{860D3475-3386-EF2C-89BF-4705C80A4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4749" y="2904514"/>
            <a:ext cx="8354591" cy="19243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 System Study</a:t>
            </a:r>
          </a:p>
        </p:txBody>
      </p:sp>
      <p:sp>
        <p:nvSpPr>
          <p:cNvPr id="4" name="Content Placeholder 3"/>
          <p:cNvSpPr>
            <a:spLocks noGrp="1"/>
          </p:cNvSpPr>
          <p:nvPr>
            <p:ph idx="1"/>
          </p:nvPr>
        </p:nvSpPr>
        <p:spPr>
          <a:xfrm>
            <a:off x="838200" y="1825626"/>
            <a:ext cx="11158330" cy="3014731"/>
          </a:xfrm>
        </p:spPr>
        <p:txBody>
          <a:bodyPr>
            <a:noAutofit/>
          </a:bodyPr>
          <a:lstStyle/>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Collection:</a:t>
            </a:r>
            <a:r>
              <a:rPr lang="en-US" sz="1800" dirty="0">
                <a:latin typeface="Times New Roman" panose="02020603050405020304" pitchFamily="18" charset="0"/>
                <a:cs typeface="Times New Roman" panose="02020603050405020304" pitchFamily="18" charset="0"/>
              </a:rPr>
              <a:t> Gather data on transportation modes, routes, volumes, and patterns.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Data Analysis</a:t>
            </a:r>
            <a:r>
              <a:rPr lang="en-US" sz="1800" dirty="0">
                <a:latin typeface="Times New Roman" panose="02020603050405020304" pitchFamily="18" charset="0"/>
                <a:cs typeface="Times New Roman" panose="02020603050405020304" pitchFamily="18" charset="0"/>
              </a:rPr>
              <a:t>: Examine data to identify trends, patterns, and correlations.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Route Choice Modeling: </a:t>
            </a:r>
            <a:r>
              <a:rPr lang="en-US" sz="1800" dirty="0">
                <a:latin typeface="Times New Roman" panose="02020603050405020304" pitchFamily="18" charset="0"/>
                <a:cs typeface="Times New Roman" panose="02020603050405020304" pitchFamily="18" charset="0"/>
              </a:rPr>
              <a:t>Study how people choose routes.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Market Segmentation</a:t>
            </a:r>
            <a:r>
              <a:rPr lang="en-US" sz="1800" dirty="0">
                <a:latin typeface="Times New Roman" panose="02020603050405020304" pitchFamily="18" charset="0"/>
                <a:cs typeface="Times New Roman" panose="02020603050405020304" pitchFamily="18" charset="0"/>
              </a:rPr>
              <a:t>: Divide the market into segments based on demographics, travel behavior, and other factors.</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Travel Demand Modeling:</a:t>
            </a:r>
            <a:r>
              <a:rPr lang="en-US" sz="1800" dirty="0">
                <a:latin typeface="Times New Roman" panose="02020603050405020304" pitchFamily="18" charset="0"/>
                <a:cs typeface="Times New Roman" panose="02020603050405020304" pitchFamily="18" charset="0"/>
              </a:rPr>
              <a:t> Use models to forecast travel demand based on factors like population growth, land use, and transportation infrastructure.</a:t>
            </a:r>
          </a:p>
          <a:p>
            <a:pPr marL="342900" indent="-342900" algn="just">
              <a:buFont typeface="+mj-lt"/>
              <a:buAutoNum type="arabicPeriod"/>
            </a:pPr>
            <a:r>
              <a:rPr lang="en-US" sz="1800" b="1" dirty="0">
                <a:latin typeface="Times New Roman" panose="02020603050405020304" pitchFamily="18" charset="0"/>
                <a:cs typeface="Times New Roman" panose="02020603050405020304" pitchFamily="18" charset="0"/>
              </a:rPr>
              <a:t>Validation:</a:t>
            </a:r>
            <a:r>
              <a:rPr lang="en-US" sz="1800" dirty="0">
                <a:latin typeface="Times New Roman" panose="02020603050405020304" pitchFamily="18" charset="0"/>
                <a:cs typeface="Times New Roman" panose="02020603050405020304" pitchFamily="18" charset="0"/>
              </a:rPr>
              <a:t> Model cross-validation is a technique used to evaluate the performance of a machine learning model by training and testing it on multiple subsets of the data. This helps to ensure that the model is not overfitting or underfitting and provides a more accurate estimate of its performance.</a:t>
            </a:r>
          </a:p>
          <a:p>
            <a:pPr marL="0" indent="0" algn="just">
              <a:buNone/>
            </a:pPr>
            <a:r>
              <a:rPr lang="en-US" sz="1800" dirty="0">
                <a:latin typeface="Times New Roman" panose="02020603050405020304" pitchFamily="18" charset="0"/>
                <a:cs typeface="Times New Roman" panose="02020603050405020304" pitchFamily="18" charset="0"/>
              </a:rPr>
              <a:t>By conducting a system study for transportation demand prediction, planners and policymakers can make informed decisions about infrastructure investments, transportation services, and policies to manage demand and reduce congestion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Methodology</a:t>
            </a:r>
          </a:p>
        </p:txBody>
      </p:sp>
      <p:sp>
        <p:nvSpPr>
          <p:cNvPr id="7" name="Content Placeholder 6">
            <a:extLst>
              <a:ext uri="{FF2B5EF4-FFF2-40B4-BE49-F238E27FC236}">
                <a16:creationId xmlns:a16="http://schemas.microsoft.com/office/drawing/2014/main" id="{157729DD-C282-CF8B-8B50-AFA682ABD93A}"/>
              </a:ext>
            </a:extLst>
          </p:cNvPr>
          <p:cNvSpPr>
            <a:spLocks noGrp="1"/>
          </p:cNvSpPr>
          <p:nvPr>
            <p:ph idx="1"/>
          </p:nvPr>
        </p:nvSpPr>
        <p:spPr>
          <a:xfrm>
            <a:off x="725557" y="1570383"/>
            <a:ext cx="10628243" cy="4606580"/>
          </a:xfrm>
        </p:spPr>
        <p:txBody>
          <a:bodyPr>
            <a:normAutofit/>
          </a:bodyPr>
          <a:lstStyle/>
          <a:p>
            <a:endParaRPr lang="en-US" sz="18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Regression Model :</a:t>
            </a:r>
          </a:p>
          <a:p>
            <a:pPr marL="0" indent="0">
              <a:buNone/>
            </a:pPr>
            <a:r>
              <a:rPr lang="en-US" sz="1800" dirty="0">
                <a:latin typeface="Times New Roman" panose="02020603050405020304" pitchFamily="18" charset="0"/>
                <a:cs typeface="Times New Roman" panose="02020603050405020304" pitchFamily="18" charset="0"/>
              </a:rPr>
              <a:t>     Regression models are a type of supervised learning algorithm that predict a continuous output variable based on one or more input features.</a:t>
            </a:r>
          </a:p>
          <a:p>
            <a:r>
              <a:rPr lang="en-US" sz="1800" b="1" dirty="0">
                <a:latin typeface="Times New Roman" panose="02020603050405020304" pitchFamily="18" charset="0"/>
                <a:cs typeface="Times New Roman" panose="02020603050405020304" pitchFamily="18" charset="0"/>
              </a:rPr>
              <a:t>Random</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Forest </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Random Forest is a popular supervised learning algorithm that uses an ensemble of decision trees to predict outputs.</a:t>
            </a:r>
          </a:p>
          <a:p>
            <a:r>
              <a:rPr lang="en-US" sz="1800" b="1" dirty="0">
                <a:latin typeface="Times New Roman" panose="02020603050405020304" pitchFamily="18" charset="0"/>
                <a:cs typeface="Times New Roman" panose="02020603050405020304" pitchFamily="18" charset="0"/>
              </a:rPr>
              <a:t>Decision</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Tree </a:t>
            </a:r>
            <a:r>
              <a:rPr lang="en-US" sz="1800"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     Decision Tree is a  supervised learning algorithm that uses a tree-like structure to classify data or predict continuous values.</a:t>
            </a:r>
            <a:endParaRPr lang="en-US" sz="1800" b="1" dirty="0">
              <a:latin typeface="Times New Roman" panose="02020603050405020304" pitchFamily="18" charset="0"/>
              <a:cs typeface="Times New Roman" panose="02020603050405020304" pitchFamily="18" charset="0"/>
            </a:endParaRPr>
          </a:p>
          <a:p>
            <a:r>
              <a:rPr lang="en-US" sz="1800" b="1" dirty="0" err="1">
                <a:latin typeface="Times New Roman" panose="02020603050405020304" pitchFamily="18" charset="0"/>
                <a:cs typeface="Times New Roman" panose="02020603050405020304" pitchFamily="18" charset="0"/>
              </a:rPr>
              <a:t>XGBoost</a:t>
            </a:r>
            <a:r>
              <a:rPr lang="en-US" sz="1800" b="1"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(Extreme Gradient Boosting) is a popular machine learning algorithm that uses gradient boosting to      build predictive models. It's particularly well-suited for structured or tabular data.</a:t>
            </a:r>
          </a:p>
          <a:p>
            <a:pPr marL="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36CA-8EF7-F8B9-697D-F1607F109CCA}"/>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System Design</a:t>
            </a:r>
          </a:p>
        </p:txBody>
      </p:sp>
      <p:pic>
        <p:nvPicPr>
          <p:cNvPr id="5" name="Content Placeholder 4">
            <a:extLst>
              <a:ext uri="{FF2B5EF4-FFF2-40B4-BE49-F238E27FC236}">
                <a16:creationId xmlns:a16="http://schemas.microsoft.com/office/drawing/2014/main" id="{285EB7E5-C34F-6172-08AE-3897A3BB8F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373341"/>
            <a:ext cx="6527007" cy="4351338"/>
          </a:xfrm>
        </p:spPr>
      </p:pic>
      <p:sp>
        <p:nvSpPr>
          <p:cNvPr id="3" name="TextBox 2">
            <a:extLst>
              <a:ext uri="{FF2B5EF4-FFF2-40B4-BE49-F238E27FC236}">
                <a16:creationId xmlns:a16="http://schemas.microsoft.com/office/drawing/2014/main" id="{E6008C8A-5C4E-5AE7-15EB-0E03531473E4}"/>
              </a:ext>
            </a:extLst>
          </p:cNvPr>
          <p:cNvSpPr txBox="1"/>
          <p:nvPr/>
        </p:nvSpPr>
        <p:spPr>
          <a:xfrm>
            <a:off x="3401961" y="5724679"/>
            <a:ext cx="5126865" cy="646331"/>
          </a:xfrm>
          <a:prstGeom prst="rect">
            <a:avLst/>
          </a:prstGeom>
          <a:noFill/>
        </p:spPr>
        <p:txBody>
          <a:bodyPr wrap="square" rtlCol="0">
            <a:spAutoFit/>
          </a:bodyPr>
          <a:lstStyle/>
          <a:p>
            <a:r>
              <a:rPr lang="en-US" dirty="0"/>
              <a:t>TRANSPORTATION DEMAND PREDCTION DESIGN</a:t>
            </a:r>
            <a:endParaRPr lang="en-IN" dirty="0"/>
          </a:p>
          <a:p>
            <a:endParaRPr lang="en-IN" dirty="0"/>
          </a:p>
        </p:txBody>
      </p:sp>
    </p:spTree>
    <p:extLst>
      <p:ext uri="{BB962C8B-B14F-4D97-AF65-F5344CB8AC3E}">
        <p14:creationId xmlns:p14="http://schemas.microsoft.com/office/powerpoint/2010/main" val="552834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F39352-3763-B2AE-6DE6-A19A45C10AE0}"/>
              </a:ext>
            </a:extLst>
          </p:cNvPr>
          <p:cNvSpPr>
            <a:spLocks noGrp="1"/>
          </p:cNvSpPr>
          <p:nvPr>
            <p:ph type="title"/>
          </p:nvPr>
        </p:nvSpPr>
        <p:spPr>
          <a:xfrm>
            <a:off x="838200" y="365125"/>
            <a:ext cx="10515600" cy="637765"/>
          </a:xfrm>
        </p:spPr>
        <p:txBody>
          <a:bodyPr>
            <a:normAutofit fontScale="90000"/>
          </a:bodyPr>
          <a:lstStyle/>
          <a:p>
            <a:r>
              <a:rPr lang="en-IN" sz="4000" b="1" dirty="0">
                <a:latin typeface="Times New Roman" panose="02020603050405020304" pitchFamily="18" charset="0"/>
                <a:cs typeface="Times New Roman" panose="02020603050405020304" pitchFamily="18" charset="0"/>
              </a:rPr>
              <a:t>Results:</a:t>
            </a:r>
          </a:p>
        </p:txBody>
      </p:sp>
      <p:pic>
        <p:nvPicPr>
          <p:cNvPr id="3" name="Picture 2">
            <a:extLst>
              <a:ext uri="{FF2B5EF4-FFF2-40B4-BE49-F238E27FC236}">
                <a16:creationId xmlns:a16="http://schemas.microsoft.com/office/drawing/2014/main" id="{78CB12D8-7E19-53D5-5CF0-C5F85B463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810" y="866790"/>
            <a:ext cx="9288379" cy="3852862"/>
          </a:xfrm>
          <a:prstGeom prst="rect">
            <a:avLst/>
          </a:prstGeom>
        </p:spPr>
      </p:pic>
      <p:sp>
        <p:nvSpPr>
          <p:cNvPr id="7" name="TextBox 6">
            <a:extLst>
              <a:ext uri="{FF2B5EF4-FFF2-40B4-BE49-F238E27FC236}">
                <a16:creationId xmlns:a16="http://schemas.microsoft.com/office/drawing/2014/main" id="{098A2D67-BCFF-D504-1DDB-42310332EFF2}"/>
              </a:ext>
            </a:extLst>
          </p:cNvPr>
          <p:cNvSpPr txBox="1"/>
          <p:nvPr/>
        </p:nvSpPr>
        <p:spPr>
          <a:xfrm>
            <a:off x="1150374" y="4916129"/>
            <a:ext cx="9589815" cy="1477328"/>
          </a:xfrm>
          <a:prstGeom prst="rect">
            <a:avLst/>
          </a:prstGeom>
          <a:noFill/>
        </p:spPr>
        <p:txBody>
          <a:bodyPr wrap="square" rtlCol="0">
            <a:spAutoFit/>
          </a:bodyPr>
          <a:lstStyle/>
          <a:p>
            <a:pPr algn="just"/>
            <a:r>
              <a:rPr lang="en-US" b="0" dirty="0">
                <a:effectLst/>
                <a:latin typeface="Times New Roman" panose="02020603050405020304" pitchFamily="18" charset="0"/>
                <a:cs typeface="Times New Roman" panose="02020603050405020304" pitchFamily="18" charset="0"/>
              </a:rPr>
              <a:t>The model has predicted well at training. I found that for training data there is a R2 score of 63.46% which means the model has predicted well on the datapoints. Which means low bias. Also the model has a R2 score of 63.93%. The variance in model is also low. This is the best performing model I have found</a:t>
            </a:r>
            <a:r>
              <a:rPr lang="en-US" b="0" dirty="0">
                <a:effectLst/>
                <a:latin typeface="Consolas" panose="020B0609020204030204" pitchFamily="49" charset="0"/>
              </a:rPr>
              <a:t>.</a:t>
            </a:r>
          </a:p>
          <a:p>
            <a:pPr algn="just"/>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"Ticket Booking Using Regression" project leverages predictive modeling to forecast ticket bookings based on historical data. By implementing various regression algorithms and integrating them into a user-friendly web interface, the project aims to provide accurate predictions and valuable insights for booking management. The project includes extensive testing, such as unit, integration, functional, performance, usability, security, regression, and acceptance testing, to guarantee dependability, performance, and usability. Future improvements could include enhanced modeling techniques, real-time data processing, mobile support, and advanced analytics. With a clear focus on robust system design, effective data handling, and user-friendly interactions, the project aims to deliver a reliable and insightful ticket booking prediction tool that meets the needs of its users and stakeholders.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3875" y="2536825"/>
            <a:ext cx="9858374" cy="1325563"/>
          </a:xfrm>
        </p:spPr>
        <p:txBody>
          <a:bodyPr>
            <a:normAutofit/>
          </a:bodyPr>
          <a:lstStyle/>
          <a:p>
            <a:pPr algn="just"/>
            <a:r>
              <a:rPr lang="en-IN" sz="4000" b="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1148</Words>
  <Application>Microsoft Office PowerPoint</Application>
  <PresentationFormat>Widescreen</PresentationFormat>
  <Paragraphs>64</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Bell MT</vt:lpstr>
      <vt:lpstr>Bookman Old Style</vt:lpstr>
      <vt:lpstr>Calibri</vt:lpstr>
      <vt:lpstr>Calibri Light</vt:lpstr>
      <vt:lpstr>Consolas</vt:lpstr>
      <vt:lpstr>Noto Sans Symbols</vt:lpstr>
      <vt:lpstr>Times New Roman</vt:lpstr>
      <vt:lpstr>Office Theme</vt:lpstr>
      <vt:lpstr>DADI INSTITUTE OF ENGINEERING &amp; TECHNOLOGY TRANSPORTATION DEMAND FORECASTING By  ELLA KUMAR SWAMY         (21U41A0510) KONA ANAND                        (21U41A0523) DOSURU SRAVANTHI           (22U45A0501) VILLURI SASI VARDHAN     (22U45A0513)    Under the Supervision of   </vt:lpstr>
      <vt:lpstr>Abstract</vt:lpstr>
      <vt:lpstr>Introduction</vt:lpstr>
      <vt:lpstr>Problem Definition</vt:lpstr>
      <vt:lpstr>Existing System</vt:lpstr>
      <vt:lpstr> System Study</vt:lpstr>
      <vt:lpstr>Methodology</vt:lpstr>
      <vt:lpstr>System Design</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Dosuru Sravanthi</dc:creator>
  <cp:lastModifiedBy>KONA ANAND</cp:lastModifiedBy>
  <cp:revision>6</cp:revision>
  <dcterms:created xsi:type="dcterms:W3CDTF">2024-10-24T13:58:00Z</dcterms:created>
  <dcterms:modified xsi:type="dcterms:W3CDTF">2024-10-26T06:57:14Z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7745307E2AAC423BA7CFCE9FA863412F_13</vt:lpwstr>
  </property>
  <property fmtid="{D5CDD505-2E9C-101B-9397-08002B2CF9AE}" pid="3" name="KSOProductBuildVer">
    <vt:lpwstr>1033-12.2.0.18607</vt:lpwstr>
  </property>
</Properties>
</file>