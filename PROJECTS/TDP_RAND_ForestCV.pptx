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media/image10.jpg" ContentType="image/jpeg"/>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72" r:id="rId3"/>
    <p:sldId id="258" r:id="rId4"/>
    <p:sldId id="259" r:id="rId5"/>
    <p:sldId id="260" r:id="rId6"/>
    <p:sldId id="261" r:id="rId7"/>
    <p:sldId id="263" r:id="rId8"/>
    <p:sldId id="264" r:id="rId9"/>
    <p:sldId id="269" r:id="rId10"/>
    <p:sldId id="267" r:id="rId11"/>
    <p:sldId id="268" r:id="rId12"/>
    <p:sldId id="270" r:id="rId13"/>
    <p:sldId id="271" r:id="rId14"/>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00"/>
    <a:srgbClr val="0000FF"/>
    <a:srgbClr val="FF9900"/>
    <a:srgbClr val="99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23" autoAdjust="0"/>
    <p:restoredTop sz="94660"/>
  </p:normalViewPr>
  <p:slideViewPr>
    <p:cSldViewPr>
      <p:cViewPr varScale="1">
        <p:scale>
          <a:sx n="78" d="100"/>
          <a:sy n="78" d="100"/>
        </p:scale>
        <p:origin x="1541"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NA ANAND" userId="74a7d7167960ad6d" providerId="LiveId" clId="{8AD86C50-D8AB-4533-B9BE-759F188E137A}"/>
    <pc:docChg chg="modSld">
      <pc:chgData name="KONA ANAND" userId="74a7d7167960ad6d" providerId="LiveId" clId="{8AD86C50-D8AB-4533-B9BE-759F188E137A}" dt="2024-12-17T07:06:27.188" v="22" actId="1076"/>
      <pc:docMkLst>
        <pc:docMk/>
      </pc:docMkLst>
      <pc:sldChg chg="addSp modSp mod">
        <pc:chgData name="KONA ANAND" userId="74a7d7167960ad6d" providerId="LiveId" clId="{8AD86C50-D8AB-4533-B9BE-759F188E137A}" dt="2024-12-17T07:06:27.188" v="22" actId="1076"/>
        <pc:sldMkLst>
          <pc:docMk/>
          <pc:sldMk cId="3509532658" sldId="267"/>
        </pc:sldMkLst>
        <pc:spChg chg="add mod">
          <ac:chgData name="KONA ANAND" userId="74a7d7167960ad6d" providerId="LiveId" clId="{8AD86C50-D8AB-4533-B9BE-759F188E137A}" dt="2024-12-17T07:06:17.904" v="20" actId="1076"/>
          <ac:spMkLst>
            <pc:docMk/>
            <pc:sldMk cId="3509532658" sldId="267"/>
            <ac:spMk id="2" creationId="{6E783601-906C-9A96-5E70-ECE4462CDD96}"/>
          </ac:spMkLst>
        </pc:spChg>
        <pc:spChg chg="mod">
          <ac:chgData name="KONA ANAND" userId="74a7d7167960ad6d" providerId="LiveId" clId="{8AD86C50-D8AB-4533-B9BE-759F188E137A}" dt="2024-12-17T07:06:24.547" v="21" actId="1076"/>
          <ac:spMkLst>
            <pc:docMk/>
            <pc:sldMk cId="3509532658" sldId="267"/>
            <ac:spMk id="6" creationId="{BDF24715-6F26-28EB-1252-3B9B3111675F}"/>
          </ac:spMkLst>
        </pc:spChg>
        <pc:spChg chg="mod">
          <ac:chgData name="KONA ANAND" userId="74a7d7167960ad6d" providerId="LiveId" clId="{8AD86C50-D8AB-4533-B9BE-759F188E137A}" dt="2024-12-17T07:04:35.857" v="0" actId="1076"/>
          <ac:spMkLst>
            <pc:docMk/>
            <pc:sldMk cId="3509532658" sldId="267"/>
            <ac:spMk id="7" creationId="{F0CB7023-CEBE-9F8B-8C52-735058BCAA91}"/>
          </ac:spMkLst>
        </pc:spChg>
        <pc:picChg chg="mod">
          <ac:chgData name="KONA ANAND" userId="74a7d7167960ad6d" providerId="LiveId" clId="{8AD86C50-D8AB-4533-B9BE-759F188E137A}" dt="2024-12-17T07:06:27.188" v="22" actId="1076"/>
          <ac:picMkLst>
            <pc:docMk/>
            <pc:sldMk cId="3509532658" sldId="267"/>
            <ac:picMk id="3" creationId="{78CB12D8-7E19-53D5-5CF0-C5F85B463E4A}"/>
          </ac:picMkLst>
        </pc:picChg>
      </pc:sldChg>
    </pc:docChg>
  </pc:docChgLst>
  <pc:docChgLst>
    <pc:chgData name="KONA ANAND" userId="74a7d7167960ad6d" providerId="LiveId" clId="{DC918044-F8E3-4F77-B3EF-075CD3A03DFC}"/>
    <pc:docChg chg="custSel modSld">
      <pc:chgData name="KONA ANAND" userId="74a7d7167960ad6d" providerId="LiveId" clId="{DC918044-F8E3-4F77-B3EF-075CD3A03DFC}" dt="2025-01-30T06:15:30.887" v="31" actId="2711"/>
      <pc:docMkLst>
        <pc:docMk/>
      </pc:docMkLst>
      <pc:sldChg chg="modSp mod">
        <pc:chgData name="KONA ANAND" userId="74a7d7167960ad6d" providerId="LiveId" clId="{DC918044-F8E3-4F77-B3EF-075CD3A03DFC}" dt="2025-01-30T05:54:18.209" v="30" actId="20577"/>
        <pc:sldMkLst>
          <pc:docMk/>
          <pc:sldMk cId="0" sldId="258"/>
        </pc:sldMkLst>
        <pc:spChg chg="mod">
          <ac:chgData name="KONA ANAND" userId="74a7d7167960ad6d" providerId="LiveId" clId="{DC918044-F8E3-4F77-B3EF-075CD3A03DFC}" dt="2025-01-30T05:54:18.209" v="30" actId="20577"/>
          <ac:spMkLst>
            <pc:docMk/>
            <pc:sldMk cId="0" sldId="258"/>
            <ac:spMk id="4" creationId="{10B2D6B6-324A-9D20-AE6A-0E919A2AE7AE}"/>
          </ac:spMkLst>
        </pc:spChg>
      </pc:sldChg>
      <pc:sldChg chg="modSp mod">
        <pc:chgData name="KONA ANAND" userId="74a7d7167960ad6d" providerId="LiveId" clId="{DC918044-F8E3-4F77-B3EF-075CD3A03DFC}" dt="2025-01-30T06:15:30.887" v="31" actId="2711"/>
        <pc:sldMkLst>
          <pc:docMk/>
          <pc:sldMk cId="1944438843" sldId="264"/>
        </pc:sldMkLst>
        <pc:spChg chg="mod">
          <ac:chgData name="KONA ANAND" userId="74a7d7167960ad6d" providerId="LiveId" clId="{DC918044-F8E3-4F77-B3EF-075CD3A03DFC}" dt="2025-01-30T06:15:30.887" v="31" actId="2711"/>
          <ac:spMkLst>
            <pc:docMk/>
            <pc:sldMk cId="1944438843" sldId="264"/>
            <ac:spMk id="10" creationId="{78EF81B5-9E20-6801-C1DE-9858DE387B93}"/>
          </ac:spMkLst>
        </pc:spChg>
      </pc:sldChg>
      <pc:sldChg chg="modSp mod">
        <pc:chgData name="KONA ANAND" userId="74a7d7167960ad6d" providerId="LiveId" clId="{DC918044-F8E3-4F77-B3EF-075CD3A03DFC}" dt="2025-01-30T05:53:46.933" v="16" actId="20577"/>
        <pc:sldMkLst>
          <pc:docMk/>
          <pc:sldMk cId="3509532658" sldId="267"/>
        </pc:sldMkLst>
        <pc:spChg chg="mod">
          <ac:chgData name="KONA ANAND" userId="74a7d7167960ad6d" providerId="LiveId" clId="{DC918044-F8E3-4F77-B3EF-075CD3A03DFC}" dt="2025-01-30T05:53:46.933" v="16" actId="20577"/>
          <ac:spMkLst>
            <pc:docMk/>
            <pc:sldMk cId="3509532658" sldId="267"/>
            <ac:spMk id="7" creationId="{F0CB7023-CEBE-9F8B-8C52-735058BCAA91}"/>
          </ac:spMkLst>
        </pc:spChg>
      </pc:sldChg>
      <pc:sldChg chg="addSp delSp modSp mod">
        <pc:chgData name="KONA ANAND" userId="74a7d7167960ad6d" providerId="LiveId" clId="{DC918044-F8E3-4F77-B3EF-075CD3A03DFC}" dt="2025-01-30T05:00:21.165" v="4" actId="14100"/>
        <pc:sldMkLst>
          <pc:docMk/>
          <pc:sldMk cId="407685489" sldId="269"/>
        </pc:sldMkLst>
        <pc:picChg chg="add mod">
          <ac:chgData name="KONA ANAND" userId="74a7d7167960ad6d" providerId="LiveId" clId="{DC918044-F8E3-4F77-B3EF-075CD3A03DFC}" dt="2025-01-30T05:00:21.165" v="4" actId="14100"/>
          <ac:picMkLst>
            <pc:docMk/>
            <pc:sldMk cId="407685489" sldId="269"/>
            <ac:picMk id="9" creationId="{13EEE9D6-CAED-ED96-E5B5-CD12D5CFD808}"/>
          </ac:picMkLst>
        </pc:picChg>
      </pc:sldChg>
    </pc:docChg>
  </pc:docChgLst>
  <pc:docChgLst>
    <pc:chgData name="KONA ANAND" userId="74a7d7167960ad6d" providerId="LiveId" clId="{C2E56FEF-058A-4778-AB7A-D01450E6AE44}"/>
    <pc:docChg chg="modSld">
      <pc:chgData name="KONA ANAND" userId="74a7d7167960ad6d" providerId="LiveId" clId="{C2E56FEF-058A-4778-AB7A-D01450E6AE44}" dt="2025-03-14T14:35:52.402" v="0" actId="1076"/>
      <pc:docMkLst>
        <pc:docMk/>
      </pc:docMkLst>
      <pc:sldChg chg="modSp mod">
        <pc:chgData name="KONA ANAND" userId="74a7d7167960ad6d" providerId="LiveId" clId="{C2E56FEF-058A-4778-AB7A-D01450E6AE44}" dt="2025-03-14T14:35:52.402" v="0" actId="1076"/>
        <pc:sldMkLst>
          <pc:docMk/>
          <pc:sldMk cId="407685489" sldId="269"/>
        </pc:sldMkLst>
        <pc:picChg chg="mod">
          <ac:chgData name="KONA ANAND" userId="74a7d7167960ad6d" providerId="LiveId" clId="{C2E56FEF-058A-4778-AB7A-D01450E6AE44}" dt="2025-03-14T14:35:52.402" v="0" actId="1076"/>
          <ac:picMkLst>
            <pc:docMk/>
            <pc:sldMk cId="407685489" sldId="269"/>
            <ac:picMk id="9" creationId="{13EEE9D6-CAED-ED96-E5B5-CD12D5CFD808}"/>
          </ac:picMkLst>
        </pc:picChg>
      </pc:sldChg>
    </pc:docChg>
  </pc:docChgLst>
  <pc:docChgLst>
    <pc:chgData name="KONA ANAND" userId="74a7d7167960ad6d" providerId="LiveId" clId="{F41F3200-D44D-43A8-A144-A4C235ACFAB2}"/>
    <pc:docChg chg="modSld sldOrd">
      <pc:chgData name="KONA ANAND" userId="74a7d7167960ad6d" providerId="LiveId" clId="{F41F3200-D44D-43A8-A144-A4C235ACFAB2}" dt="2025-02-26T14:46:05.191" v="3"/>
      <pc:docMkLst>
        <pc:docMk/>
      </pc:docMkLst>
      <pc:sldChg chg="ord">
        <pc:chgData name="KONA ANAND" userId="74a7d7167960ad6d" providerId="LiveId" clId="{F41F3200-D44D-43A8-A144-A4C235ACFAB2}" dt="2025-02-26T14:46:05.191" v="3"/>
        <pc:sldMkLst>
          <pc:docMk/>
          <pc:sldMk cId="1483672969" sldId="271"/>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jp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2800" b="1" i="0">
                <a:solidFill>
                  <a:srgbClr val="FCEADA"/>
                </a:solidFill>
                <a:latin typeface="Times New Roman"/>
                <a:cs typeface="Times New Roman"/>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9144000" cy="812291"/>
          </a:xfrm>
          <a:prstGeom prst="rect">
            <a:avLst/>
          </a:prstGeom>
        </p:spPr>
      </p:pic>
      <p:sp>
        <p:nvSpPr>
          <p:cNvPr id="2" name="Holder 2"/>
          <p:cNvSpPr>
            <a:spLocks noGrp="1"/>
          </p:cNvSpPr>
          <p:nvPr>
            <p:ph type="title"/>
          </p:nvPr>
        </p:nvSpPr>
        <p:spPr/>
        <p:txBody>
          <a:bodyPr lIns="0" tIns="0" rIns="0" bIns="0"/>
          <a:lstStyle>
            <a:lvl1pPr>
              <a:defRPr sz="2800" b="1" i="0">
                <a:solidFill>
                  <a:srgbClr val="FCEADA"/>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FCEADA"/>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3/14/2025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8106640" y="162028"/>
            <a:ext cx="808759" cy="808759"/>
          </a:xfrm>
          <a:prstGeom prst="rect">
            <a:avLst/>
          </a:prstGeom>
        </p:spPr>
      </p:pic>
      <p:pic>
        <p:nvPicPr>
          <p:cNvPr id="17" name="bg object 17"/>
          <p:cNvPicPr/>
          <p:nvPr/>
        </p:nvPicPr>
        <p:blipFill>
          <a:blip r:embed="rId3" cstate="print"/>
          <a:stretch>
            <a:fillRect/>
          </a:stretch>
        </p:blipFill>
        <p:spPr>
          <a:xfrm>
            <a:off x="6905105" y="6347925"/>
            <a:ext cx="1704109" cy="377371"/>
          </a:xfrm>
          <a:prstGeom prst="rect">
            <a:avLst/>
          </a:prstGeom>
        </p:spPr>
      </p:pic>
      <p:pic>
        <p:nvPicPr>
          <p:cNvPr id="18" name="bg object 18"/>
          <p:cNvPicPr/>
          <p:nvPr/>
        </p:nvPicPr>
        <p:blipFill>
          <a:blip r:embed="rId4" cstate="print"/>
          <a:stretch>
            <a:fillRect/>
          </a:stretch>
        </p:blipFill>
        <p:spPr>
          <a:xfrm>
            <a:off x="305561" y="972311"/>
            <a:ext cx="8534400" cy="39750"/>
          </a:xfrm>
          <a:prstGeom prst="rect">
            <a:avLst/>
          </a:prstGeom>
        </p:spPr>
      </p:pic>
      <p:pic>
        <p:nvPicPr>
          <p:cNvPr id="19" name="bg object 19"/>
          <p:cNvPicPr/>
          <p:nvPr/>
        </p:nvPicPr>
        <p:blipFill>
          <a:blip r:embed="rId5" cstate="print"/>
          <a:stretch>
            <a:fillRect/>
          </a:stretch>
        </p:blipFill>
        <p:spPr>
          <a:xfrm>
            <a:off x="0" y="1066799"/>
            <a:ext cx="9144000" cy="5181600"/>
          </a:xfrm>
          <a:prstGeom prst="rect">
            <a:avLst/>
          </a:prstGeom>
        </p:spPr>
      </p:pic>
      <p:pic>
        <p:nvPicPr>
          <p:cNvPr id="20" name="bg object 20"/>
          <p:cNvPicPr/>
          <p:nvPr/>
        </p:nvPicPr>
        <p:blipFill>
          <a:blip r:embed="rId6" cstate="print"/>
          <a:stretch>
            <a:fillRect/>
          </a:stretch>
        </p:blipFill>
        <p:spPr>
          <a:xfrm>
            <a:off x="2913888" y="938783"/>
            <a:ext cx="3349752" cy="1118615"/>
          </a:xfrm>
          <a:prstGeom prst="rect">
            <a:avLst/>
          </a:prstGeom>
        </p:spPr>
      </p:pic>
      <p:sp>
        <p:nvSpPr>
          <p:cNvPr id="2" name="Holder 2"/>
          <p:cNvSpPr>
            <a:spLocks noGrp="1"/>
          </p:cNvSpPr>
          <p:nvPr>
            <p:ph type="title"/>
          </p:nvPr>
        </p:nvSpPr>
        <p:spPr/>
        <p:txBody>
          <a:bodyPr lIns="0" tIns="0" rIns="0" bIns="0"/>
          <a:lstStyle>
            <a:lvl1pPr>
              <a:defRPr sz="2800" b="1" i="0">
                <a:solidFill>
                  <a:srgbClr val="FCEADA"/>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3/14/2025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3/14/2025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8106640" y="162028"/>
            <a:ext cx="808759" cy="808759"/>
          </a:xfrm>
          <a:prstGeom prst="rect">
            <a:avLst/>
          </a:prstGeom>
        </p:spPr>
      </p:pic>
      <p:pic>
        <p:nvPicPr>
          <p:cNvPr id="17" name="bg object 17"/>
          <p:cNvPicPr/>
          <p:nvPr/>
        </p:nvPicPr>
        <p:blipFill>
          <a:blip r:embed="rId8" cstate="print"/>
          <a:stretch>
            <a:fillRect/>
          </a:stretch>
        </p:blipFill>
        <p:spPr>
          <a:xfrm>
            <a:off x="6905105" y="6347925"/>
            <a:ext cx="1704109" cy="377371"/>
          </a:xfrm>
          <a:prstGeom prst="rect">
            <a:avLst/>
          </a:prstGeom>
        </p:spPr>
      </p:pic>
      <p:pic>
        <p:nvPicPr>
          <p:cNvPr id="18" name="bg object 18"/>
          <p:cNvPicPr/>
          <p:nvPr/>
        </p:nvPicPr>
        <p:blipFill>
          <a:blip r:embed="rId9" cstate="print"/>
          <a:stretch>
            <a:fillRect/>
          </a:stretch>
        </p:blipFill>
        <p:spPr>
          <a:xfrm>
            <a:off x="305561" y="972311"/>
            <a:ext cx="8534400" cy="39750"/>
          </a:xfrm>
          <a:prstGeom prst="rect">
            <a:avLst/>
          </a:prstGeom>
        </p:spPr>
      </p:pic>
      <p:sp>
        <p:nvSpPr>
          <p:cNvPr id="2" name="Holder 2"/>
          <p:cNvSpPr>
            <a:spLocks noGrp="1"/>
          </p:cNvSpPr>
          <p:nvPr>
            <p:ph type="title"/>
          </p:nvPr>
        </p:nvSpPr>
        <p:spPr>
          <a:xfrm>
            <a:off x="289966" y="172923"/>
            <a:ext cx="8003540" cy="452120"/>
          </a:xfrm>
          <a:prstGeom prst="rect">
            <a:avLst/>
          </a:prstGeom>
        </p:spPr>
        <p:txBody>
          <a:bodyPr wrap="square" lIns="0" tIns="0" rIns="0" bIns="0">
            <a:spAutoFit/>
          </a:bodyPr>
          <a:lstStyle>
            <a:lvl1pPr>
              <a:defRPr sz="2800" b="1" i="0">
                <a:solidFill>
                  <a:srgbClr val="FCEADA"/>
                </a:solidFill>
                <a:latin typeface="Times New Roman"/>
                <a:cs typeface="Times New Roman"/>
              </a:defRPr>
            </a:lvl1pPr>
          </a:lstStyle>
          <a:p>
            <a:endParaRPr/>
          </a:p>
        </p:txBody>
      </p:sp>
      <p:sp>
        <p:nvSpPr>
          <p:cNvPr id="3" name="Holder 3"/>
          <p:cNvSpPr>
            <a:spLocks noGrp="1"/>
          </p:cNvSpPr>
          <p:nvPr>
            <p:ph type="body" idx="1"/>
          </p:nvPr>
        </p:nvSpPr>
        <p:spPr>
          <a:xfrm>
            <a:off x="457200" y="1577340"/>
            <a:ext cx="82296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3/14/2025</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8600" y="796458"/>
            <a:ext cx="8610599" cy="6252994"/>
          </a:xfrm>
          <a:prstGeom prst="rect">
            <a:avLst/>
          </a:prstGeom>
        </p:spPr>
        <p:txBody>
          <a:bodyPr vert="horz" wrap="square" lIns="0" tIns="12700" rIns="0" bIns="0" rtlCol="0">
            <a:spAutoFit/>
          </a:bodyPr>
          <a:lstStyle/>
          <a:p>
            <a:pPr marL="1270" algn="ctr">
              <a:lnSpc>
                <a:spcPct val="100000"/>
              </a:lnSpc>
              <a:spcBef>
                <a:spcPts val="100"/>
              </a:spcBef>
            </a:pPr>
            <a:r>
              <a:rPr lang="en-IN" sz="2400" spc="-10" dirty="0">
                <a:solidFill>
                  <a:srgbClr val="6F2F9F"/>
                </a:solidFill>
                <a:latin typeface="Times New Roman"/>
                <a:cs typeface="Times New Roman"/>
              </a:rPr>
              <a:t>TRANSPORTATION DEMAND PREDICTION</a:t>
            </a:r>
          </a:p>
          <a:p>
            <a:pPr marL="12065" algn="ctr">
              <a:lnSpc>
                <a:spcPct val="100000"/>
              </a:lnSpc>
              <a:spcBef>
                <a:spcPts val="35"/>
              </a:spcBef>
            </a:pPr>
            <a:r>
              <a:rPr lang="en-US" sz="1400" spc="-5" dirty="0">
                <a:latin typeface="Times New Roman"/>
                <a:cs typeface="Times New Roman"/>
              </a:rPr>
              <a:t>A</a:t>
            </a:r>
            <a:endParaRPr lang="en-US" sz="1400" dirty="0">
              <a:latin typeface="Times New Roman"/>
              <a:cs typeface="Times New Roman"/>
            </a:endParaRPr>
          </a:p>
          <a:p>
            <a:pPr marL="253365" marR="199390" indent="-46355" algn="ctr">
              <a:lnSpc>
                <a:spcPct val="100000"/>
              </a:lnSpc>
            </a:pPr>
            <a:r>
              <a:rPr lang="en-US" sz="1400" spc="-5" dirty="0">
                <a:latin typeface="Times New Roman"/>
                <a:cs typeface="Times New Roman"/>
              </a:rPr>
              <a:t>Proposed Project Power Point Presentation </a:t>
            </a:r>
            <a:endParaRPr lang="en-US" sz="1400" spc="5" dirty="0">
              <a:latin typeface="Times New Roman"/>
              <a:cs typeface="Times New Roman"/>
            </a:endParaRPr>
          </a:p>
          <a:p>
            <a:pPr marL="253365" marR="199390" indent="-46355" algn="ctr">
              <a:lnSpc>
                <a:spcPct val="100000"/>
              </a:lnSpc>
            </a:pPr>
            <a:r>
              <a:rPr lang="en-US" sz="1400" spc="-10" dirty="0">
                <a:latin typeface="Times New Roman"/>
                <a:cs typeface="Times New Roman"/>
              </a:rPr>
              <a:t>Submitted</a:t>
            </a:r>
            <a:r>
              <a:rPr lang="en-US" sz="1400" spc="60" dirty="0">
                <a:latin typeface="Times New Roman"/>
                <a:cs typeface="Times New Roman"/>
              </a:rPr>
              <a:t> </a:t>
            </a:r>
            <a:r>
              <a:rPr lang="en-US" sz="1400" spc="-5" dirty="0">
                <a:latin typeface="Times New Roman"/>
                <a:cs typeface="Times New Roman"/>
              </a:rPr>
              <a:t>in</a:t>
            </a:r>
            <a:r>
              <a:rPr lang="en-US" sz="1400" spc="5" dirty="0">
                <a:latin typeface="Times New Roman"/>
                <a:cs typeface="Times New Roman"/>
              </a:rPr>
              <a:t> </a:t>
            </a:r>
            <a:r>
              <a:rPr lang="en-US" sz="1400" spc="-5" dirty="0">
                <a:latin typeface="Times New Roman"/>
                <a:cs typeface="Times New Roman"/>
              </a:rPr>
              <a:t>partial</a:t>
            </a:r>
            <a:r>
              <a:rPr lang="en-US" sz="1400" spc="30" dirty="0">
                <a:latin typeface="Times New Roman"/>
                <a:cs typeface="Times New Roman"/>
              </a:rPr>
              <a:t> </a:t>
            </a:r>
            <a:r>
              <a:rPr lang="en-US" sz="1400" spc="-5" dirty="0">
                <a:latin typeface="Times New Roman"/>
                <a:cs typeface="Times New Roman"/>
              </a:rPr>
              <a:t>fulfilment</a:t>
            </a:r>
            <a:r>
              <a:rPr lang="en-US" sz="1400" spc="65" dirty="0">
                <a:latin typeface="Times New Roman"/>
                <a:cs typeface="Times New Roman"/>
              </a:rPr>
              <a:t> </a:t>
            </a:r>
            <a:r>
              <a:rPr lang="en-US" sz="1400" spc="-5" dirty="0">
                <a:latin typeface="Times New Roman"/>
                <a:cs typeface="Times New Roman"/>
              </a:rPr>
              <a:t>of</a:t>
            </a:r>
            <a:r>
              <a:rPr lang="en-US" sz="1400" spc="10" dirty="0">
                <a:latin typeface="Times New Roman"/>
                <a:cs typeface="Times New Roman"/>
              </a:rPr>
              <a:t> </a:t>
            </a:r>
            <a:r>
              <a:rPr lang="en-US" sz="1400" spc="-5" dirty="0">
                <a:latin typeface="Times New Roman"/>
                <a:cs typeface="Times New Roman"/>
              </a:rPr>
              <a:t>the</a:t>
            </a:r>
            <a:r>
              <a:rPr lang="en-US" sz="1400" spc="10" dirty="0">
                <a:latin typeface="Times New Roman"/>
                <a:cs typeface="Times New Roman"/>
              </a:rPr>
              <a:t> </a:t>
            </a:r>
            <a:r>
              <a:rPr lang="en-US" sz="1400" spc="-5" dirty="0">
                <a:latin typeface="Times New Roman"/>
                <a:cs typeface="Times New Roman"/>
              </a:rPr>
              <a:t>requirements</a:t>
            </a:r>
            <a:r>
              <a:rPr lang="en-US" sz="1400" spc="65" dirty="0">
                <a:latin typeface="Times New Roman"/>
                <a:cs typeface="Times New Roman"/>
              </a:rPr>
              <a:t> </a:t>
            </a:r>
            <a:r>
              <a:rPr lang="en-US" sz="1400" dirty="0">
                <a:latin typeface="Times New Roman"/>
                <a:cs typeface="Times New Roman"/>
              </a:rPr>
              <a:t>for</a:t>
            </a:r>
            <a:r>
              <a:rPr lang="en-US" sz="1400" spc="5" dirty="0">
                <a:latin typeface="Times New Roman"/>
                <a:cs typeface="Times New Roman"/>
              </a:rPr>
              <a:t> </a:t>
            </a:r>
            <a:r>
              <a:rPr lang="en-US" sz="1400" spc="-5" dirty="0">
                <a:latin typeface="Times New Roman"/>
                <a:cs typeface="Times New Roman"/>
              </a:rPr>
              <a:t>the</a:t>
            </a:r>
            <a:r>
              <a:rPr lang="en-US" sz="1400" dirty="0">
                <a:latin typeface="Times New Roman"/>
                <a:cs typeface="Times New Roman"/>
              </a:rPr>
              <a:t> </a:t>
            </a:r>
            <a:r>
              <a:rPr lang="en-US" sz="1400" spc="-5" dirty="0">
                <a:latin typeface="Times New Roman"/>
                <a:cs typeface="Times New Roman"/>
              </a:rPr>
              <a:t>degree </a:t>
            </a:r>
            <a:r>
              <a:rPr lang="en-US" sz="1400" spc="-385" dirty="0">
                <a:latin typeface="Times New Roman"/>
                <a:cs typeface="Times New Roman"/>
              </a:rPr>
              <a:t> </a:t>
            </a:r>
            <a:r>
              <a:rPr lang="en-US" sz="1400" dirty="0">
                <a:latin typeface="Times New Roman"/>
                <a:cs typeface="Times New Roman"/>
              </a:rPr>
              <a:t>of</a:t>
            </a:r>
          </a:p>
          <a:p>
            <a:pPr marL="6350" algn="ctr">
              <a:lnSpc>
                <a:spcPct val="100000"/>
              </a:lnSpc>
              <a:spcBef>
                <a:spcPts val="10"/>
              </a:spcBef>
            </a:pPr>
            <a:r>
              <a:rPr lang="en-US" b="1" dirty="0">
                <a:solidFill>
                  <a:srgbClr val="FF0000"/>
                </a:solidFill>
                <a:latin typeface="Times New Roman"/>
                <a:cs typeface="Times New Roman"/>
              </a:rPr>
              <a:t>B</a:t>
            </a:r>
            <a:r>
              <a:rPr lang="en-US" b="1" spc="-10" dirty="0">
                <a:solidFill>
                  <a:srgbClr val="FF0000"/>
                </a:solidFill>
                <a:latin typeface="Times New Roman"/>
                <a:cs typeface="Times New Roman"/>
              </a:rPr>
              <a:t>AC</a:t>
            </a:r>
            <a:r>
              <a:rPr lang="en-US" b="1" dirty="0">
                <a:solidFill>
                  <a:srgbClr val="FF0000"/>
                </a:solidFill>
                <a:latin typeface="Times New Roman"/>
                <a:cs typeface="Times New Roman"/>
              </a:rPr>
              <a:t>HELOR OF</a:t>
            </a:r>
            <a:r>
              <a:rPr lang="en-US" b="1" spc="-95" dirty="0">
                <a:solidFill>
                  <a:srgbClr val="FF0000"/>
                </a:solidFill>
                <a:latin typeface="Times New Roman"/>
                <a:cs typeface="Times New Roman"/>
              </a:rPr>
              <a:t> </a:t>
            </a:r>
            <a:r>
              <a:rPr lang="en-US" b="1" dirty="0">
                <a:solidFill>
                  <a:srgbClr val="FF0000"/>
                </a:solidFill>
                <a:latin typeface="Times New Roman"/>
                <a:cs typeface="Times New Roman"/>
              </a:rPr>
              <a:t>TE</a:t>
            </a:r>
            <a:r>
              <a:rPr lang="en-US" b="1" spc="-10" dirty="0">
                <a:solidFill>
                  <a:srgbClr val="FF0000"/>
                </a:solidFill>
                <a:latin typeface="Times New Roman"/>
                <a:cs typeface="Times New Roman"/>
              </a:rPr>
              <a:t>C</a:t>
            </a:r>
            <a:r>
              <a:rPr lang="en-US" b="1" dirty="0">
                <a:solidFill>
                  <a:srgbClr val="FF0000"/>
                </a:solidFill>
                <a:latin typeface="Times New Roman"/>
                <a:cs typeface="Times New Roman"/>
              </a:rPr>
              <a:t>H</a:t>
            </a:r>
            <a:r>
              <a:rPr lang="en-US" b="1" spc="-10" dirty="0">
                <a:solidFill>
                  <a:srgbClr val="FF0000"/>
                </a:solidFill>
                <a:latin typeface="Times New Roman"/>
                <a:cs typeface="Times New Roman"/>
              </a:rPr>
              <a:t>N</a:t>
            </a:r>
            <a:r>
              <a:rPr lang="en-US" b="1" dirty="0">
                <a:solidFill>
                  <a:srgbClr val="FF0000"/>
                </a:solidFill>
                <a:latin typeface="Times New Roman"/>
                <a:cs typeface="Times New Roman"/>
              </a:rPr>
              <a:t>OLOGY</a:t>
            </a:r>
            <a:endParaRPr lang="en-US" dirty="0">
              <a:latin typeface="Times New Roman"/>
              <a:cs typeface="Times New Roman"/>
            </a:endParaRPr>
          </a:p>
          <a:p>
            <a:pPr algn="ctr">
              <a:lnSpc>
                <a:spcPct val="100000"/>
              </a:lnSpc>
            </a:pPr>
            <a:r>
              <a:rPr lang="en-US" spc="5" dirty="0">
                <a:latin typeface="Times New Roman"/>
                <a:cs typeface="Times New Roman"/>
              </a:rPr>
              <a:t>in</a:t>
            </a:r>
            <a:endParaRPr lang="en-US" dirty="0">
              <a:latin typeface="Times New Roman"/>
              <a:cs typeface="Times New Roman"/>
            </a:endParaRPr>
          </a:p>
          <a:p>
            <a:pPr algn="ctr">
              <a:lnSpc>
                <a:spcPct val="100000"/>
              </a:lnSpc>
            </a:pPr>
            <a:r>
              <a:rPr lang="en-US" b="1" spc="-5" dirty="0">
                <a:solidFill>
                  <a:srgbClr val="FF0000"/>
                </a:solidFill>
                <a:latin typeface="Times New Roman"/>
                <a:cs typeface="Times New Roman"/>
              </a:rPr>
              <a:t>COMPUTER SCIENCE &amp;</a:t>
            </a:r>
            <a:r>
              <a:rPr lang="en-US" b="1" spc="-75" dirty="0">
                <a:solidFill>
                  <a:srgbClr val="FF0000"/>
                </a:solidFill>
                <a:latin typeface="Times New Roman"/>
                <a:cs typeface="Times New Roman"/>
              </a:rPr>
              <a:t> </a:t>
            </a:r>
            <a:r>
              <a:rPr lang="en-US" b="1" spc="-5" dirty="0">
                <a:solidFill>
                  <a:srgbClr val="FF0000"/>
                </a:solidFill>
                <a:latin typeface="Times New Roman"/>
                <a:cs typeface="Times New Roman"/>
              </a:rPr>
              <a:t>ENGINEERING</a:t>
            </a:r>
            <a:endParaRPr dirty="0">
              <a:latin typeface="Times New Roman"/>
              <a:cs typeface="Times New Roman"/>
            </a:endParaRPr>
          </a:p>
          <a:p>
            <a:pPr marL="1270" algn="ctr">
              <a:lnSpc>
                <a:spcPct val="100000"/>
              </a:lnSpc>
            </a:pPr>
            <a:r>
              <a:rPr lang="en-IN" sz="1400" spc="-25" dirty="0">
                <a:latin typeface="Times New Roman"/>
                <a:cs typeface="Times New Roman"/>
              </a:rPr>
              <a:t>B</a:t>
            </a:r>
            <a:r>
              <a:rPr sz="1400" spc="-25" dirty="0">
                <a:latin typeface="Times New Roman"/>
                <a:cs typeface="Times New Roman"/>
              </a:rPr>
              <a:t>y</a:t>
            </a:r>
            <a:endParaRPr lang="en-IN" sz="1400" spc="-25" dirty="0">
              <a:latin typeface="Times New Roman"/>
              <a:cs typeface="Times New Roman"/>
            </a:endParaRPr>
          </a:p>
          <a:p>
            <a:pPr marL="1270" algn="ctr">
              <a:lnSpc>
                <a:spcPct val="100000"/>
              </a:lnSpc>
            </a:pPr>
            <a:r>
              <a:rPr lang="en-IN" sz="1400" dirty="0">
                <a:solidFill>
                  <a:srgbClr val="00AF50"/>
                </a:solidFill>
                <a:latin typeface="Times New Roman"/>
                <a:cs typeface="Times New Roman"/>
              </a:rPr>
              <a:t>Ella Kumar swamy (21U41A0510)</a:t>
            </a:r>
          </a:p>
          <a:p>
            <a:pPr marL="1270" algn="ctr"/>
            <a:r>
              <a:rPr lang="en-IN" sz="1400" spc="-10" dirty="0">
                <a:solidFill>
                  <a:srgbClr val="00AF50"/>
                </a:solidFill>
                <a:latin typeface="Times New Roman"/>
                <a:cs typeface="Times New Roman"/>
              </a:rPr>
              <a:t>Kona Anand</a:t>
            </a:r>
            <a:r>
              <a:rPr lang="en-IN" sz="1400" dirty="0">
                <a:solidFill>
                  <a:srgbClr val="00AF50"/>
                </a:solidFill>
                <a:latin typeface="Times New Roman"/>
                <a:cs typeface="Times New Roman"/>
              </a:rPr>
              <a:t> (21U41A0523)</a:t>
            </a:r>
          </a:p>
          <a:p>
            <a:pPr algn="ctr"/>
            <a:r>
              <a:rPr lang="en-IN" sz="1400" dirty="0" err="1">
                <a:solidFill>
                  <a:srgbClr val="00AF50"/>
                </a:solidFill>
                <a:latin typeface="Times New Roman"/>
                <a:cs typeface="Times New Roman"/>
              </a:rPr>
              <a:t>Dosuru</a:t>
            </a:r>
            <a:r>
              <a:rPr lang="en-IN" sz="1400" dirty="0">
                <a:solidFill>
                  <a:srgbClr val="00AF50"/>
                </a:solidFill>
                <a:latin typeface="Times New Roman"/>
                <a:cs typeface="Times New Roman"/>
              </a:rPr>
              <a:t> </a:t>
            </a:r>
            <a:r>
              <a:rPr lang="en-IN" sz="1400" dirty="0" err="1">
                <a:solidFill>
                  <a:srgbClr val="00AF50"/>
                </a:solidFill>
                <a:latin typeface="Times New Roman"/>
                <a:cs typeface="Times New Roman"/>
              </a:rPr>
              <a:t>Sravanthi</a:t>
            </a:r>
            <a:r>
              <a:rPr lang="en-IN" sz="1400" dirty="0">
                <a:solidFill>
                  <a:srgbClr val="00AF50"/>
                </a:solidFill>
                <a:latin typeface="Times New Roman"/>
                <a:cs typeface="Times New Roman"/>
              </a:rPr>
              <a:t> (22U45A0501)</a:t>
            </a:r>
          </a:p>
          <a:p>
            <a:pPr algn="ctr"/>
            <a:r>
              <a:rPr lang="en-IN" sz="1400" spc="-10" dirty="0" err="1">
                <a:solidFill>
                  <a:srgbClr val="00AF50"/>
                </a:solidFill>
                <a:latin typeface="Times New Roman"/>
                <a:cs typeface="Times New Roman"/>
              </a:rPr>
              <a:t>Villuri</a:t>
            </a:r>
            <a:r>
              <a:rPr lang="en-IN" sz="1400" spc="-10" dirty="0">
                <a:solidFill>
                  <a:srgbClr val="00AF50"/>
                </a:solidFill>
                <a:latin typeface="Times New Roman"/>
                <a:cs typeface="Times New Roman"/>
              </a:rPr>
              <a:t> </a:t>
            </a:r>
            <a:r>
              <a:rPr lang="en-IN" sz="1400" spc="-10" dirty="0" err="1">
                <a:solidFill>
                  <a:srgbClr val="00AF50"/>
                </a:solidFill>
                <a:latin typeface="Times New Roman"/>
                <a:cs typeface="Times New Roman"/>
              </a:rPr>
              <a:t>Sasi</a:t>
            </a:r>
            <a:r>
              <a:rPr lang="en-IN" sz="1400" spc="-10" dirty="0">
                <a:solidFill>
                  <a:srgbClr val="00AF50"/>
                </a:solidFill>
                <a:latin typeface="Times New Roman"/>
                <a:cs typeface="Times New Roman"/>
              </a:rPr>
              <a:t> Vardhan</a:t>
            </a:r>
            <a:r>
              <a:rPr lang="en-IN" sz="1400" dirty="0">
                <a:solidFill>
                  <a:srgbClr val="00AF50"/>
                </a:solidFill>
                <a:latin typeface="Times New Roman"/>
                <a:cs typeface="Times New Roman"/>
              </a:rPr>
              <a:t>(22U45A0513)</a:t>
            </a:r>
          </a:p>
          <a:p>
            <a:pPr marL="1985645" marR="1978660" algn="ctr">
              <a:lnSpc>
                <a:spcPct val="100000"/>
              </a:lnSpc>
            </a:pPr>
            <a:endParaRPr lang="en-IN" sz="1400" dirty="0">
              <a:latin typeface="Times New Roman"/>
              <a:cs typeface="Times New Roman"/>
            </a:endParaRPr>
          </a:p>
          <a:p>
            <a:pPr marL="1985645" marR="1978660" algn="ctr">
              <a:lnSpc>
                <a:spcPct val="100000"/>
              </a:lnSpc>
            </a:pPr>
            <a:r>
              <a:rPr sz="1400" dirty="0">
                <a:latin typeface="Times New Roman"/>
                <a:cs typeface="Times New Roman"/>
              </a:rPr>
              <a:t>Under</a:t>
            </a:r>
            <a:r>
              <a:rPr sz="1400" spc="-30" dirty="0">
                <a:latin typeface="Times New Roman"/>
                <a:cs typeface="Times New Roman"/>
              </a:rPr>
              <a:t> </a:t>
            </a:r>
            <a:r>
              <a:rPr sz="1400" dirty="0">
                <a:latin typeface="Times New Roman"/>
                <a:cs typeface="Times New Roman"/>
              </a:rPr>
              <a:t>the</a:t>
            </a:r>
            <a:r>
              <a:rPr sz="1400" spc="-30" dirty="0">
                <a:latin typeface="Times New Roman"/>
                <a:cs typeface="Times New Roman"/>
              </a:rPr>
              <a:t> </a:t>
            </a:r>
            <a:r>
              <a:rPr sz="1400" dirty="0">
                <a:latin typeface="Times New Roman"/>
                <a:cs typeface="Times New Roman"/>
              </a:rPr>
              <a:t>Supervision</a:t>
            </a:r>
            <a:r>
              <a:rPr sz="1400" spc="-55" dirty="0">
                <a:latin typeface="Times New Roman"/>
                <a:cs typeface="Times New Roman"/>
              </a:rPr>
              <a:t> </a:t>
            </a:r>
            <a:r>
              <a:rPr sz="1400" spc="-25" dirty="0">
                <a:latin typeface="Times New Roman"/>
                <a:cs typeface="Times New Roman"/>
              </a:rPr>
              <a:t>of </a:t>
            </a:r>
            <a:endParaRPr lang="en-IN" sz="1400" spc="-25" dirty="0">
              <a:latin typeface="Times New Roman"/>
              <a:cs typeface="Times New Roman"/>
            </a:endParaRPr>
          </a:p>
          <a:p>
            <a:pPr marL="1985645" marR="1978660" algn="ctr">
              <a:lnSpc>
                <a:spcPct val="100000"/>
              </a:lnSpc>
            </a:pPr>
            <a:r>
              <a:rPr lang="en-US" sz="1400" spc="-20" dirty="0" err="1">
                <a:solidFill>
                  <a:srgbClr val="6F2F9F"/>
                </a:solidFill>
                <a:latin typeface="Times New Roman"/>
                <a:cs typeface="Times New Roman"/>
              </a:rPr>
              <a:t>T.Santhoshi</a:t>
            </a:r>
            <a:r>
              <a:rPr lang="en-US" sz="1400" spc="-20" dirty="0">
                <a:solidFill>
                  <a:srgbClr val="6F2F9F"/>
                </a:solidFill>
                <a:latin typeface="Times New Roman"/>
                <a:cs typeface="Times New Roman"/>
              </a:rPr>
              <a:t> </a:t>
            </a:r>
            <a:r>
              <a:rPr lang="en-US" sz="1400" spc="-20" dirty="0" err="1">
                <a:solidFill>
                  <a:srgbClr val="6F2F9F"/>
                </a:solidFill>
                <a:latin typeface="Times New Roman"/>
                <a:cs typeface="Times New Roman"/>
              </a:rPr>
              <a:t>lakshmi</a:t>
            </a:r>
            <a:r>
              <a:rPr sz="1400" spc="-20" dirty="0">
                <a:solidFill>
                  <a:srgbClr val="6F2F9F"/>
                </a:solidFill>
                <a:latin typeface="Times New Roman"/>
                <a:cs typeface="Times New Roman"/>
              </a:rPr>
              <a:t> </a:t>
            </a:r>
            <a:r>
              <a:rPr lang="en-IN" sz="1400" spc="-10" dirty="0">
                <a:solidFill>
                  <a:srgbClr val="6F2F9F"/>
                </a:solidFill>
                <a:latin typeface="Times New Roman"/>
                <a:cs typeface="Times New Roman"/>
              </a:rPr>
              <a:t>, Assistant Professor,</a:t>
            </a:r>
            <a:r>
              <a:rPr sz="1400" spc="-10" dirty="0">
                <a:solidFill>
                  <a:srgbClr val="6F2F9F"/>
                </a:solidFill>
                <a:latin typeface="Times New Roman"/>
                <a:cs typeface="Times New Roman"/>
              </a:rPr>
              <a:t> Department</a:t>
            </a:r>
            <a:endParaRPr sz="1400" dirty="0">
              <a:latin typeface="Times New Roman"/>
              <a:cs typeface="Times New Roman"/>
            </a:endParaRPr>
          </a:p>
          <a:p>
            <a:pPr marL="1380490" marR="1376045" algn="ctr">
              <a:lnSpc>
                <a:spcPct val="100000"/>
              </a:lnSpc>
            </a:pPr>
            <a:r>
              <a:rPr lang="en-IN" sz="1400" dirty="0">
                <a:latin typeface="Times New Roman"/>
                <a:cs typeface="Times New Roman"/>
              </a:rPr>
              <a:t>Dadi Institute of Engineering &amp; Technology</a:t>
            </a:r>
          </a:p>
          <a:p>
            <a:pPr marL="1380490" marR="1376045" algn="ctr">
              <a:lnSpc>
                <a:spcPct val="100000"/>
              </a:lnSpc>
            </a:pPr>
            <a:endParaRPr lang="en-IN" sz="1400" dirty="0">
              <a:latin typeface="Times New Roman"/>
              <a:cs typeface="Times New Roman"/>
            </a:endParaRPr>
          </a:p>
          <a:p>
            <a:pPr marL="1380490" marR="1376045" algn="ctr">
              <a:lnSpc>
                <a:spcPct val="100000"/>
              </a:lnSpc>
            </a:pPr>
            <a:endParaRPr lang="en-IN" sz="1400" dirty="0">
              <a:latin typeface="Times New Roman"/>
              <a:cs typeface="Times New Roman"/>
            </a:endParaRPr>
          </a:p>
          <a:p>
            <a:pPr marL="1380490" marR="1376045" algn="ctr">
              <a:lnSpc>
                <a:spcPct val="100000"/>
              </a:lnSpc>
            </a:pPr>
            <a:endParaRPr lang="en-IN" sz="1400" dirty="0">
              <a:latin typeface="Times New Roman"/>
              <a:cs typeface="Times New Roman"/>
            </a:endParaRPr>
          </a:p>
          <a:p>
            <a:pPr marL="1380490" marR="1376045" algn="ctr">
              <a:lnSpc>
                <a:spcPct val="100000"/>
              </a:lnSpc>
            </a:pPr>
            <a:endParaRPr lang="en-IN" sz="1400" dirty="0">
              <a:latin typeface="Times New Roman"/>
              <a:cs typeface="Times New Roman"/>
            </a:endParaRPr>
          </a:p>
          <a:p>
            <a:pPr marL="1380490" marR="1376045" algn="ctr">
              <a:lnSpc>
                <a:spcPct val="100000"/>
              </a:lnSpc>
            </a:pPr>
            <a:endParaRPr lang="en-IN" sz="1400" dirty="0">
              <a:latin typeface="Times New Roman"/>
              <a:cs typeface="Times New Roman"/>
            </a:endParaRPr>
          </a:p>
          <a:p>
            <a:pPr algn="ctr">
              <a:lnSpc>
                <a:spcPts val="2145"/>
              </a:lnSpc>
            </a:pPr>
            <a:r>
              <a:rPr sz="1600" b="1" spc="-10" dirty="0">
                <a:solidFill>
                  <a:srgbClr val="001F5F"/>
                </a:solidFill>
                <a:latin typeface="Times New Roman"/>
                <a:cs typeface="Times New Roman"/>
              </a:rPr>
              <a:t>DEPARTMENT</a:t>
            </a:r>
            <a:r>
              <a:rPr lang="en-IN" sz="1600" b="1" spc="-10" dirty="0">
                <a:solidFill>
                  <a:srgbClr val="001F5F"/>
                </a:solidFill>
                <a:latin typeface="Times New Roman"/>
                <a:cs typeface="Times New Roman"/>
              </a:rPr>
              <a:t> OF COMPUTER SCIENCE &amp; ENGINEERING</a:t>
            </a:r>
            <a:endParaRPr sz="1600" dirty="0">
              <a:latin typeface="Times New Roman"/>
              <a:cs typeface="Times New Roman"/>
            </a:endParaRPr>
          </a:p>
          <a:p>
            <a:pPr algn="ctr">
              <a:lnSpc>
                <a:spcPct val="100000"/>
              </a:lnSpc>
            </a:pPr>
            <a:r>
              <a:rPr lang="en-IN" sz="1600" b="1" dirty="0">
                <a:solidFill>
                  <a:srgbClr val="001F5F"/>
                </a:solidFill>
                <a:latin typeface="Times New Roman"/>
                <a:cs typeface="Times New Roman"/>
              </a:rPr>
              <a:t>DADI INSTITUTE OF ENGINEERING &amp; TECHNOLOGY</a:t>
            </a:r>
          </a:p>
          <a:p>
            <a:pPr algn="ctr">
              <a:lnSpc>
                <a:spcPct val="100000"/>
              </a:lnSpc>
            </a:pPr>
            <a:r>
              <a:rPr lang="en-IN" sz="1600" b="1" spc="-10" dirty="0">
                <a:solidFill>
                  <a:srgbClr val="001F5F"/>
                </a:solidFill>
                <a:latin typeface="Times New Roman"/>
                <a:cs typeface="Times New Roman"/>
              </a:rPr>
              <a:t>(AN AUTONOMOUS INSTITUTE)</a:t>
            </a:r>
            <a:r>
              <a:rPr sz="1600" b="1" spc="-10" dirty="0">
                <a:solidFill>
                  <a:srgbClr val="001F5F"/>
                </a:solidFill>
                <a:latin typeface="Times New Roman"/>
                <a:cs typeface="Times New Roman"/>
              </a:rPr>
              <a:t> </a:t>
            </a:r>
            <a:endParaRPr lang="en-IN" sz="1600" b="1" spc="-10" dirty="0">
              <a:solidFill>
                <a:srgbClr val="001F5F"/>
              </a:solidFill>
              <a:latin typeface="Times New Roman"/>
              <a:cs typeface="Times New Roman"/>
            </a:endParaRPr>
          </a:p>
          <a:p>
            <a:pPr algn="ctr">
              <a:lnSpc>
                <a:spcPct val="100000"/>
              </a:lnSpc>
            </a:pPr>
            <a:r>
              <a:rPr lang="en-IN" sz="1600" b="1" spc="-10" dirty="0">
                <a:solidFill>
                  <a:srgbClr val="001F5F"/>
                </a:solidFill>
                <a:latin typeface="Times New Roman"/>
                <a:cs typeface="Times New Roman"/>
              </a:rPr>
              <a:t>ANAKAPALLE - 531002, VISAKHAPATNAM, A.P. </a:t>
            </a:r>
          </a:p>
          <a:p>
            <a:pPr algn="ctr">
              <a:lnSpc>
                <a:spcPct val="100000"/>
              </a:lnSpc>
            </a:pPr>
            <a:r>
              <a:rPr lang="en-IN" sz="1600" b="1" spc="-10" dirty="0">
                <a:solidFill>
                  <a:srgbClr val="001F5F"/>
                </a:solidFill>
                <a:latin typeface="Times New Roman"/>
                <a:cs typeface="Times New Roman"/>
              </a:rPr>
              <a:t>MARCH - 2024</a:t>
            </a:r>
            <a:endParaRPr sz="1600" dirty="0">
              <a:latin typeface="Times New Roman"/>
              <a:cs typeface="Times New Roman"/>
            </a:endParaRPr>
          </a:p>
        </p:txBody>
      </p:sp>
      <p:pic>
        <p:nvPicPr>
          <p:cNvPr id="9" name="Picture 8" descr="LOGO">
            <a:extLst>
              <a:ext uri="{FF2B5EF4-FFF2-40B4-BE49-F238E27FC236}">
                <a16:creationId xmlns:a16="http://schemas.microsoft.com/office/drawing/2014/main" id="{84CEAC1F-4F08-164D-EF3A-3F4DFCD14650}"/>
              </a:ext>
            </a:extLst>
          </p:cNvPr>
          <p:cNvPicPr>
            <a:picLocks noChangeAspect="1"/>
          </p:cNvPicPr>
          <p:nvPr/>
        </p:nvPicPr>
        <p:blipFill>
          <a:blip r:embed="rId2"/>
          <a:srcRect/>
          <a:stretch>
            <a:fillRect/>
          </a:stretch>
        </p:blipFill>
        <p:spPr bwMode="auto">
          <a:xfrm>
            <a:off x="8281281" y="0"/>
            <a:ext cx="855345" cy="626110"/>
          </a:xfrm>
          <a:prstGeom prst="rect">
            <a:avLst/>
          </a:prstGeom>
          <a:noFill/>
        </p:spPr>
      </p:pic>
      <p:sp>
        <p:nvSpPr>
          <p:cNvPr id="10" name="TextBox 9">
            <a:extLst>
              <a:ext uri="{FF2B5EF4-FFF2-40B4-BE49-F238E27FC236}">
                <a16:creationId xmlns:a16="http://schemas.microsoft.com/office/drawing/2014/main" id="{557BFB2C-1677-292F-9B46-528F0DAA1507}"/>
              </a:ext>
            </a:extLst>
          </p:cNvPr>
          <p:cNvSpPr txBox="1"/>
          <p:nvPr/>
        </p:nvSpPr>
        <p:spPr>
          <a:xfrm>
            <a:off x="135255" y="138393"/>
            <a:ext cx="8170545" cy="461665"/>
          </a:xfrm>
          <a:prstGeom prst="rect">
            <a:avLst/>
          </a:prstGeom>
          <a:noFill/>
        </p:spPr>
        <p:txBody>
          <a:bodyPr wrap="square" rtlCol="0">
            <a:spAutoFit/>
          </a:bodyPr>
          <a:lstStyle/>
          <a:p>
            <a:r>
              <a:rPr lang="en-IN" sz="2400" b="1" dirty="0">
                <a:solidFill>
                  <a:schemeClr val="bg1"/>
                </a:solidFill>
                <a:latin typeface="Times New Roman" panose="02020603050405020304" pitchFamily="18" charset="0"/>
                <a:cs typeface="Times New Roman" panose="02020603050405020304" pitchFamily="18" charset="0"/>
              </a:rPr>
              <a:t>DADI INSTITUTE OF ENGINEERING &amp; TECHNOLOGY</a:t>
            </a:r>
          </a:p>
        </p:txBody>
      </p:sp>
      <p:pic>
        <p:nvPicPr>
          <p:cNvPr id="11" name="Picture 10" descr="LOGO">
            <a:extLst>
              <a:ext uri="{FF2B5EF4-FFF2-40B4-BE49-F238E27FC236}">
                <a16:creationId xmlns:a16="http://schemas.microsoft.com/office/drawing/2014/main" id="{6AFDDEF7-3D5C-79B0-14E9-4B1428DA98CA}"/>
              </a:ext>
            </a:extLst>
          </p:cNvPr>
          <p:cNvPicPr>
            <a:picLocks noChangeAspect="1"/>
          </p:cNvPicPr>
          <p:nvPr/>
        </p:nvPicPr>
        <p:blipFill>
          <a:blip r:embed="rId2"/>
          <a:srcRect/>
          <a:stretch>
            <a:fillRect/>
          </a:stretch>
        </p:blipFill>
        <p:spPr bwMode="auto">
          <a:xfrm>
            <a:off x="4038601" y="4648199"/>
            <a:ext cx="1304984" cy="955245"/>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28F84CF-F142-40BD-0164-C63319C7B6F6}"/>
            </a:ext>
          </a:extLst>
        </p:cNvPr>
        <p:cNvGrpSpPr/>
        <p:nvPr/>
      </p:nvGrpSpPr>
      <p:grpSpPr>
        <a:xfrm>
          <a:off x="0" y="0"/>
          <a:ext cx="0" cy="0"/>
          <a:chOff x="0" y="0"/>
          <a:chExt cx="0" cy="0"/>
        </a:xfrm>
      </p:grpSpPr>
      <p:pic>
        <p:nvPicPr>
          <p:cNvPr id="5" name="object 5">
            <a:extLst>
              <a:ext uri="{FF2B5EF4-FFF2-40B4-BE49-F238E27FC236}">
                <a16:creationId xmlns:a16="http://schemas.microsoft.com/office/drawing/2014/main" id="{94A14787-8DDB-C876-6684-F31AC64F4C18}"/>
              </a:ext>
            </a:extLst>
          </p:cNvPr>
          <p:cNvPicPr/>
          <p:nvPr/>
        </p:nvPicPr>
        <p:blipFill>
          <a:blip r:embed="rId2" cstate="print"/>
          <a:stretch>
            <a:fillRect/>
          </a:stretch>
        </p:blipFill>
        <p:spPr>
          <a:xfrm>
            <a:off x="305561" y="931164"/>
            <a:ext cx="8534400" cy="39750"/>
          </a:xfrm>
          <a:prstGeom prst="rect">
            <a:avLst/>
          </a:prstGeom>
        </p:spPr>
      </p:pic>
      <p:pic>
        <p:nvPicPr>
          <p:cNvPr id="15" name="Picture 14" descr="LOGO">
            <a:extLst>
              <a:ext uri="{FF2B5EF4-FFF2-40B4-BE49-F238E27FC236}">
                <a16:creationId xmlns:a16="http://schemas.microsoft.com/office/drawing/2014/main" id="{89340A81-1D95-3845-2C28-3F08DAF0EF5D}"/>
              </a:ext>
            </a:extLst>
          </p:cNvPr>
          <p:cNvPicPr>
            <a:picLocks noChangeAspect="1"/>
          </p:cNvPicPr>
          <p:nvPr/>
        </p:nvPicPr>
        <p:blipFill>
          <a:blip r:embed="rId3"/>
          <a:srcRect/>
          <a:stretch>
            <a:fillRect/>
          </a:stretch>
        </p:blipFill>
        <p:spPr bwMode="auto">
          <a:xfrm>
            <a:off x="8077200" y="132704"/>
            <a:ext cx="855345" cy="626110"/>
          </a:xfrm>
          <a:prstGeom prst="rect">
            <a:avLst/>
          </a:prstGeom>
          <a:noFill/>
        </p:spPr>
      </p:pic>
      <p:grpSp>
        <p:nvGrpSpPr>
          <p:cNvPr id="17" name="Group 16">
            <a:extLst>
              <a:ext uri="{FF2B5EF4-FFF2-40B4-BE49-F238E27FC236}">
                <a16:creationId xmlns:a16="http://schemas.microsoft.com/office/drawing/2014/main" id="{1EF2922D-B1C0-9279-C99F-9777868E1D38}"/>
              </a:ext>
            </a:extLst>
          </p:cNvPr>
          <p:cNvGrpSpPr/>
          <p:nvPr/>
        </p:nvGrpSpPr>
        <p:grpSpPr>
          <a:xfrm>
            <a:off x="7047271" y="6324600"/>
            <a:ext cx="1944329" cy="381000"/>
            <a:chOff x="2590800" y="5257800"/>
            <a:chExt cx="1944329" cy="381000"/>
          </a:xfrm>
        </p:grpSpPr>
        <p:sp>
          <p:nvSpPr>
            <p:cNvPr id="18" name="TextBox 17">
              <a:extLst>
                <a:ext uri="{FF2B5EF4-FFF2-40B4-BE49-F238E27FC236}">
                  <a16:creationId xmlns:a16="http://schemas.microsoft.com/office/drawing/2014/main" id="{2D3558D0-5D5C-9F83-8E78-40F3C4608659}"/>
                </a:ext>
              </a:extLst>
            </p:cNvPr>
            <p:cNvSpPr txBox="1"/>
            <p:nvPr/>
          </p:nvSpPr>
          <p:spPr>
            <a:xfrm>
              <a:off x="2590800" y="5257800"/>
              <a:ext cx="381000" cy="369332"/>
            </a:xfrm>
            <a:prstGeom prst="rect">
              <a:avLst/>
            </a:prstGeom>
            <a:solidFill>
              <a:srgbClr val="9900CC"/>
            </a:solidFill>
          </p:spPr>
          <p:txBody>
            <a:bodyPr wrap="square" rtlCol="0">
              <a:spAutoFit/>
            </a:bodyPr>
            <a:lstStyle/>
            <a:p>
              <a:pPr algn="ctr"/>
              <a:r>
                <a:rPr lang="en-IN" b="1" dirty="0">
                  <a:solidFill>
                    <a:schemeClr val="bg1"/>
                  </a:solidFill>
                </a:rPr>
                <a:t>D</a:t>
              </a:r>
            </a:p>
          </p:txBody>
        </p:sp>
        <p:sp>
          <p:nvSpPr>
            <p:cNvPr id="19" name="TextBox 18">
              <a:extLst>
                <a:ext uri="{FF2B5EF4-FFF2-40B4-BE49-F238E27FC236}">
                  <a16:creationId xmlns:a16="http://schemas.microsoft.com/office/drawing/2014/main" id="{386AD27E-A8D7-C6A4-D1F2-DDC71E92E2A7}"/>
                </a:ext>
              </a:extLst>
            </p:cNvPr>
            <p:cNvSpPr txBox="1"/>
            <p:nvPr/>
          </p:nvSpPr>
          <p:spPr>
            <a:xfrm>
              <a:off x="3124200" y="5262405"/>
              <a:ext cx="381000" cy="369332"/>
            </a:xfrm>
            <a:prstGeom prst="rect">
              <a:avLst/>
            </a:prstGeom>
            <a:solidFill>
              <a:srgbClr val="FF9900"/>
            </a:solidFill>
          </p:spPr>
          <p:txBody>
            <a:bodyPr wrap="square" rtlCol="0">
              <a:spAutoFit/>
            </a:bodyPr>
            <a:lstStyle/>
            <a:p>
              <a:pPr algn="ctr"/>
              <a:r>
                <a:rPr lang="en-IN" b="1" dirty="0">
                  <a:solidFill>
                    <a:schemeClr val="bg1"/>
                  </a:solidFill>
                </a:rPr>
                <a:t>I</a:t>
              </a:r>
            </a:p>
          </p:txBody>
        </p:sp>
        <p:sp>
          <p:nvSpPr>
            <p:cNvPr id="20" name="TextBox 19">
              <a:extLst>
                <a:ext uri="{FF2B5EF4-FFF2-40B4-BE49-F238E27FC236}">
                  <a16:creationId xmlns:a16="http://schemas.microsoft.com/office/drawing/2014/main" id="{428FCC45-F112-A2E6-C622-EBAE3565DA26}"/>
                </a:ext>
              </a:extLst>
            </p:cNvPr>
            <p:cNvSpPr txBox="1"/>
            <p:nvPr/>
          </p:nvSpPr>
          <p:spPr>
            <a:xfrm>
              <a:off x="3657600" y="5267010"/>
              <a:ext cx="381000" cy="369332"/>
            </a:xfrm>
            <a:prstGeom prst="rect">
              <a:avLst/>
            </a:prstGeom>
            <a:solidFill>
              <a:srgbClr val="0000FF"/>
            </a:solidFill>
          </p:spPr>
          <p:txBody>
            <a:bodyPr wrap="square" rtlCol="0">
              <a:spAutoFit/>
            </a:bodyPr>
            <a:lstStyle/>
            <a:p>
              <a:pPr algn="ctr"/>
              <a:r>
                <a:rPr lang="en-IN" b="1" dirty="0">
                  <a:solidFill>
                    <a:schemeClr val="bg1"/>
                  </a:solidFill>
                </a:rPr>
                <a:t>E</a:t>
              </a:r>
            </a:p>
          </p:txBody>
        </p:sp>
        <p:sp>
          <p:nvSpPr>
            <p:cNvPr id="21" name="TextBox 20">
              <a:extLst>
                <a:ext uri="{FF2B5EF4-FFF2-40B4-BE49-F238E27FC236}">
                  <a16:creationId xmlns:a16="http://schemas.microsoft.com/office/drawing/2014/main" id="{D4845335-E13D-EA50-9150-5156EA639C60}"/>
                </a:ext>
              </a:extLst>
            </p:cNvPr>
            <p:cNvSpPr txBox="1"/>
            <p:nvPr/>
          </p:nvSpPr>
          <p:spPr>
            <a:xfrm>
              <a:off x="4154129" y="5269468"/>
              <a:ext cx="381000" cy="369332"/>
            </a:xfrm>
            <a:prstGeom prst="rect">
              <a:avLst/>
            </a:prstGeom>
            <a:solidFill>
              <a:srgbClr val="009900"/>
            </a:solidFill>
          </p:spPr>
          <p:txBody>
            <a:bodyPr wrap="square" rtlCol="0">
              <a:spAutoFit/>
            </a:bodyPr>
            <a:lstStyle/>
            <a:p>
              <a:pPr algn="ctr"/>
              <a:r>
                <a:rPr lang="en-IN" b="1" dirty="0">
                  <a:solidFill>
                    <a:schemeClr val="bg1"/>
                  </a:solidFill>
                </a:rPr>
                <a:t>T</a:t>
              </a:r>
            </a:p>
          </p:txBody>
        </p:sp>
      </p:grpSp>
      <p:sp>
        <p:nvSpPr>
          <p:cNvPr id="7" name="TextBox 6">
            <a:extLst>
              <a:ext uri="{FF2B5EF4-FFF2-40B4-BE49-F238E27FC236}">
                <a16:creationId xmlns:a16="http://schemas.microsoft.com/office/drawing/2014/main" id="{EA99C234-AB17-D1CA-099D-1A05710DDC2F}"/>
              </a:ext>
            </a:extLst>
          </p:cNvPr>
          <p:cNvSpPr txBox="1"/>
          <p:nvPr/>
        </p:nvSpPr>
        <p:spPr>
          <a:xfrm>
            <a:off x="320309" y="4408365"/>
            <a:ext cx="3809240" cy="646331"/>
          </a:xfrm>
          <a:prstGeom prst="rect">
            <a:avLst/>
          </a:prstGeom>
          <a:noFill/>
        </p:spPr>
        <p:txBody>
          <a:bodyPr wrap="square" rtlCol="0">
            <a:spAutoFit/>
          </a:bodyPr>
          <a:lstStyle/>
          <a:p>
            <a:pPr algn="just">
              <a:buNone/>
            </a:pPr>
            <a:r>
              <a:rPr lang="en-US" sz="1800" dirty="0">
                <a:sym typeface="+mn-ea"/>
              </a:rPr>
              <a:t>          </a:t>
            </a:r>
            <a:endParaRPr lang="en-US" sz="1800" dirty="0"/>
          </a:p>
          <a:p>
            <a:endParaRPr lang="en-IN" dirty="0"/>
          </a:p>
        </p:txBody>
      </p:sp>
      <p:sp>
        <p:nvSpPr>
          <p:cNvPr id="2" name="TextBox 1">
            <a:extLst>
              <a:ext uri="{FF2B5EF4-FFF2-40B4-BE49-F238E27FC236}">
                <a16:creationId xmlns:a16="http://schemas.microsoft.com/office/drawing/2014/main" id="{DF2F9DCB-F5F5-A6AD-FB0D-2EF1AB2E9E8C}"/>
              </a:ext>
            </a:extLst>
          </p:cNvPr>
          <p:cNvSpPr txBox="1"/>
          <p:nvPr/>
        </p:nvSpPr>
        <p:spPr>
          <a:xfrm>
            <a:off x="305561" y="1049179"/>
            <a:ext cx="2285271"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CONTENTS </a:t>
            </a:r>
            <a:endParaRPr lang="en-IN" sz="20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CA96D40-3160-8506-908A-C6F157814237}"/>
              </a:ext>
            </a:extLst>
          </p:cNvPr>
          <p:cNvSpPr txBox="1"/>
          <p:nvPr/>
        </p:nvSpPr>
        <p:spPr>
          <a:xfrm>
            <a:off x="320309" y="1600200"/>
            <a:ext cx="6309091" cy="2862322"/>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ABSTRACT</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INTRODUCTION</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PROBLEM DEFINITION</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EXISTING MODEL</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SYSTEM STUDY</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METHODOLOGY</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SYSTEM DESIGN</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RESULTS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CONCLUSION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99884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object 5"/>
          <p:cNvPicPr/>
          <p:nvPr/>
        </p:nvPicPr>
        <p:blipFill>
          <a:blip r:embed="rId2" cstate="print"/>
          <a:stretch>
            <a:fillRect/>
          </a:stretch>
        </p:blipFill>
        <p:spPr>
          <a:xfrm>
            <a:off x="305561" y="931164"/>
            <a:ext cx="8534400" cy="39750"/>
          </a:xfrm>
          <a:prstGeom prst="rect">
            <a:avLst/>
          </a:prstGeom>
        </p:spPr>
      </p:pic>
      <p:pic>
        <p:nvPicPr>
          <p:cNvPr id="15" name="Picture 14" descr="LOGO">
            <a:extLst>
              <a:ext uri="{FF2B5EF4-FFF2-40B4-BE49-F238E27FC236}">
                <a16:creationId xmlns:a16="http://schemas.microsoft.com/office/drawing/2014/main" id="{D6B71091-48D8-BC35-7E5E-CA10C02058DC}"/>
              </a:ext>
            </a:extLst>
          </p:cNvPr>
          <p:cNvPicPr>
            <a:picLocks noChangeAspect="1"/>
          </p:cNvPicPr>
          <p:nvPr/>
        </p:nvPicPr>
        <p:blipFill>
          <a:blip r:embed="rId3"/>
          <a:srcRect/>
          <a:stretch>
            <a:fillRect/>
          </a:stretch>
        </p:blipFill>
        <p:spPr bwMode="auto">
          <a:xfrm>
            <a:off x="8077200" y="132704"/>
            <a:ext cx="855345" cy="626110"/>
          </a:xfrm>
          <a:prstGeom prst="rect">
            <a:avLst/>
          </a:prstGeom>
          <a:noFill/>
        </p:spPr>
      </p:pic>
      <p:grpSp>
        <p:nvGrpSpPr>
          <p:cNvPr id="17" name="Group 16">
            <a:extLst>
              <a:ext uri="{FF2B5EF4-FFF2-40B4-BE49-F238E27FC236}">
                <a16:creationId xmlns:a16="http://schemas.microsoft.com/office/drawing/2014/main" id="{216B05BB-8464-52FD-30F7-ED402CEF2D04}"/>
              </a:ext>
            </a:extLst>
          </p:cNvPr>
          <p:cNvGrpSpPr/>
          <p:nvPr/>
        </p:nvGrpSpPr>
        <p:grpSpPr>
          <a:xfrm>
            <a:off x="7047271" y="6324600"/>
            <a:ext cx="1944329" cy="381000"/>
            <a:chOff x="2590800" y="5257800"/>
            <a:chExt cx="1944329" cy="381000"/>
          </a:xfrm>
        </p:grpSpPr>
        <p:sp>
          <p:nvSpPr>
            <p:cNvPr id="18" name="TextBox 17">
              <a:extLst>
                <a:ext uri="{FF2B5EF4-FFF2-40B4-BE49-F238E27FC236}">
                  <a16:creationId xmlns:a16="http://schemas.microsoft.com/office/drawing/2014/main" id="{2ED64AAE-E71B-F2C1-355C-DACBD27EC9AC}"/>
                </a:ext>
              </a:extLst>
            </p:cNvPr>
            <p:cNvSpPr txBox="1"/>
            <p:nvPr/>
          </p:nvSpPr>
          <p:spPr>
            <a:xfrm>
              <a:off x="2590800" y="5257800"/>
              <a:ext cx="381000" cy="369332"/>
            </a:xfrm>
            <a:prstGeom prst="rect">
              <a:avLst/>
            </a:prstGeom>
            <a:solidFill>
              <a:srgbClr val="9900CC"/>
            </a:solidFill>
          </p:spPr>
          <p:txBody>
            <a:bodyPr wrap="square" rtlCol="0">
              <a:spAutoFit/>
            </a:bodyPr>
            <a:lstStyle/>
            <a:p>
              <a:pPr algn="ctr"/>
              <a:r>
                <a:rPr lang="en-IN" b="1" dirty="0">
                  <a:solidFill>
                    <a:schemeClr val="bg1"/>
                  </a:solidFill>
                </a:rPr>
                <a:t>D</a:t>
              </a:r>
            </a:p>
          </p:txBody>
        </p:sp>
        <p:sp>
          <p:nvSpPr>
            <p:cNvPr id="19" name="TextBox 18">
              <a:extLst>
                <a:ext uri="{FF2B5EF4-FFF2-40B4-BE49-F238E27FC236}">
                  <a16:creationId xmlns:a16="http://schemas.microsoft.com/office/drawing/2014/main" id="{26BEF444-C0C4-D6CF-BB63-087C0D22FE74}"/>
                </a:ext>
              </a:extLst>
            </p:cNvPr>
            <p:cNvSpPr txBox="1"/>
            <p:nvPr/>
          </p:nvSpPr>
          <p:spPr>
            <a:xfrm>
              <a:off x="3124200" y="5262405"/>
              <a:ext cx="381000" cy="369332"/>
            </a:xfrm>
            <a:prstGeom prst="rect">
              <a:avLst/>
            </a:prstGeom>
            <a:solidFill>
              <a:srgbClr val="FF9900"/>
            </a:solidFill>
          </p:spPr>
          <p:txBody>
            <a:bodyPr wrap="square" rtlCol="0">
              <a:spAutoFit/>
            </a:bodyPr>
            <a:lstStyle/>
            <a:p>
              <a:pPr algn="ctr"/>
              <a:r>
                <a:rPr lang="en-IN" b="1" dirty="0">
                  <a:solidFill>
                    <a:schemeClr val="bg1"/>
                  </a:solidFill>
                </a:rPr>
                <a:t>I</a:t>
              </a:r>
            </a:p>
          </p:txBody>
        </p:sp>
        <p:sp>
          <p:nvSpPr>
            <p:cNvPr id="20" name="TextBox 19">
              <a:extLst>
                <a:ext uri="{FF2B5EF4-FFF2-40B4-BE49-F238E27FC236}">
                  <a16:creationId xmlns:a16="http://schemas.microsoft.com/office/drawing/2014/main" id="{18444361-2D57-333A-B811-7E6940EB9D56}"/>
                </a:ext>
              </a:extLst>
            </p:cNvPr>
            <p:cNvSpPr txBox="1"/>
            <p:nvPr/>
          </p:nvSpPr>
          <p:spPr>
            <a:xfrm>
              <a:off x="3657600" y="5267010"/>
              <a:ext cx="381000" cy="369332"/>
            </a:xfrm>
            <a:prstGeom prst="rect">
              <a:avLst/>
            </a:prstGeom>
            <a:solidFill>
              <a:srgbClr val="0000FF"/>
            </a:solidFill>
          </p:spPr>
          <p:txBody>
            <a:bodyPr wrap="square" rtlCol="0">
              <a:spAutoFit/>
            </a:bodyPr>
            <a:lstStyle/>
            <a:p>
              <a:pPr algn="ctr"/>
              <a:r>
                <a:rPr lang="en-IN" b="1" dirty="0">
                  <a:solidFill>
                    <a:schemeClr val="bg1"/>
                  </a:solidFill>
                </a:rPr>
                <a:t>E</a:t>
              </a:r>
            </a:p>
          </p:txBody>
        </p:sp>
        <p:sp>
          <p:nvSpPr>
            <p:cNvPr id="21" name="TextBox 20">
              <a:extLst>
                <a:ext uri="{FF2B5EF4-FFF2-40B4-BE49-F238E27FC236}">
                  <a16:creationId xmlns:a16="http://schemas.microsoft.com/office/drawing/2014/main" id="{30DADD10-AF30-44E2-827B-2895919F3940}"/>
                </a:ext>
              </a:extLst>
            </p:cNvPr>
            <p:cNvSpPr txBox="1"/>
            <p:nvPr/>
          </p:nvSpPr>
          <p:spPr>
            <a:xfrm>
              <a:off x="4154129" y="5269468"/>
              <a:ext cx="381000" cy="369332"/>
            </a:xfrm>
            <a:prstGeom prst="rect">
              <a:avLst/>
            </a:prstGeom>
            <a:solidFill>
              <a:srgbClr val="009900"/>
            </a:solidFill>
          </p:spPr>
          <p:txBody>
            <a:bodyPr wrap="square" rtlCol="0">
              <a:spAutoFit/>
            </a:bodyPr>
            <a:lstStyle/>
            <a:p>
              <a:pPr algn="ctr"/>
              <a:r>
                <a:rPr lang="en-IN" b="1" dirty="0">
                  <a:solidFill>
                    <a:schemeClr val="bg1"/>
                  </a:solidFill>
                </a:rPr>
                <a:t>T</a:t>
              </a:r>
            </a:p>
          </p:txBody>
        </p:sp>
      </p:grpSp>
      <p:sp>
        <p:nvSpPr>
          <p:cNvPr id="2" name="TextBox 1">
            <a:extLst>
              <a:ext uri="{FF2B5EF4-FFF2-40B4-BE49-F238E27FC236}">
                <a16:creationId xmlns:a16="http://schemas.microsoft.com/office/drawing/2014/main" id="{AE1B0FEC-E5DF-F950-2347-D56E16490D03}"/>
              </a:ext>
            </a:extLst>
          </p:cNvPr>
          <p:cNvSpPr txBox="1"/>
          <p:nvPr/>
        </p:nvSpPr>
        <p:spPr>
          <a:xfrm>
            <a:off x="305561" y="1106550"/>
            <a:ext cx="2804129"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ABSTRACT</a:t>
            </a:r>
            <a:endParaRPr lang="en-IN" sz="20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0B2D6B6-324A-9D20-AE6A-0E919A2AE7AE}"/>
              </a:ext>
            </a:extLst>
          </p:cNvPr>
          <p:cNvSpPr txBox="1"/>
          <p:nvPr/>
        </p:nvSpPr>
        <p:spPr>
          <a:xfrm flipH="1">
            <a:off x="305560" y="1546411"/>
            <a:ext cx="8534399" cy="4967514"/>
          </a:xfrm>
          <a:prstGeom prst="rect">
            <a:avLst/>
          </a:prstGeom>
          <a:noFill/>
        </p:spPr>
        <p:txBody>
          <a:bodyPr wrap="square" rtlCol="0">
            <a:spAutoFit/>
          </a:bodyPr>
          <a:lstStyle/>
          <a:p>
            <a:pPr marL="0" indent="0" algn="just">
              <a:lnSpc>
                <a:spcPct val="120000"/>
              </a:lnSpc>
              <a:buNone/>
            </a:pPr>
            <a:r>
              <a:rPr lang="en-US" sz="1600" b="1" dirty="0">
                <a:latin typeface="Times New Roman" panose="02020603050405020304" pitchFamily="18" charset="0"/>
                <a:cs typeface="Times New Roman" panose="02020603050405020304" pitchFamily="18" charset="0"/>
              </a:rPr>
              <a:t>Transportation demand prediction </a:t>
            </a:r>
            <a:r>
              <a:rPr lang="en-US" sz="1600" dirty="0">
                <a:latin typeface="Times New Roman" panose="02020603050405020304" pitchFamily="18" charset="0"/>
                <a:cs typeface="Times New Roman" panose="02020603050405020304" pitchFamily="18" charset="0"/>
              </a:rPr>
              <a:t>is a critical component for effective urban planning and infrastructure management. Accurate forecasting of transportation needs allows for optimized resource allocation, improved service delivery, and enhanced sustainability . DA4PT (</a:t>
            </a:r>
            <a:r>
              <a:rPr lang="en-US" sz="1600" b="1" dirty="0">
                <a:latin typeface="Times New Roman" panose="02020603050405020304" pitchFamily="18" charset="0"/>
                <a:cs typeface="Times New Roman" panose="02020603050405020304" pitchFamily="18" charset="0"/>
              </a:rPr>
              <a:t>Data Analytics for Public Transport</a:t>
            </a:r>
            <a:r>
              <a:rPr lang="en-US" sz="1600" dirty="0">
                <a:latin typeface="Times New Roman" panose="02020603050405020304" pitchFamily="18" charset="0"/>
                <a:cs typeface="Times New Roman" panose="02020603050405020304" pitchFamily="18" charset="0"/>
              </a:rPr>
              <a:t>), for discovering the factors that influence travelers in booking and purchasing bus tickets and analyzing transportation data to inform planning decisions, Transportation Demand Prediction uses  machine learning and statistical modeling, to predict future transportation demand. Random Forest Regression model is used to examine correlations between factors and ticket sales using historical booking data and also offers a reliable foundation for forecasting ticket sales by MAE,MSE,RMSPE and by various statistical metrics . Deploying the model with Random Forest Regressor with the parameters with 3 fold cross validation. I found that for training data there is a R2 score of </a:t>
            </a:r>
            <a:r>
              <a:rPr lang="en-US" sz="1600" b="1" dirty="0">
                <a:latin typeface="Times New Roman" panose="02020603050405020304" pitchFamily="18" charset="0"/>
                <a:cs typeface="Times New Roman" panose="02020603050405020304" pitchFamily="18" charset="0"/>
              </a:rPr>
              <a:t>61.11</a:t>
            </a:r>
            <a:r>
              <a:rPr lang="en-US" sz="1600" dirty="0">
                <a:latin typeface="Times New Roman" panose="02020603050405020304" pitchFamily="18" charset="0"/>
                <a:cs typeface="Times New Roman" panose="02020603050405020304" pitchFamily="18" charset="0"/>
              </a:rPr>
              <a:t>% which means the model has predicted well on the </a:t>
            </a:r>
            <a:r>
              <a:rPr lang="en-US" sz="1600" dirty="0" err="1">
                <a:latin typeface="Times New Roman" panose="02020603050405020304" pitchFamily="18" charset="0"/>
                <a:cs typeface="Times New Roman" panose="02020603050405020304" pitchFamily="18" charset="0"/>
              </a:rPr>
              <a:t>datapoints.This</a:t>
            </a:r>
            <a:r>
              <a:rPr lang="en-US" sz="1600" dirty="0">
                <a:latin typeface="Times New Roman" panose="02020603050405020304" pitchFamily="18" charset="0"/>
                <a:cs typeface="Times New Roman" panose="02020603050405020304" pitchFamily="18" charset="0"/>
              </a:rPr>
              <a:t> leads to low bias. Also the model has a R2 score of </a:t>
            </a:r>
            <a:r>
              <a:rPr lang="en-US" sz="1600" b="1" dirty="0">
                <a:latin typeface="Times New Roman" panose="02020603050405020304" pitchFamily="18" charset="0"/>
                <a:cs typeface="Times New Roman" panose="02020603050405020304" pitchFamily="18" charset="0"/>
              </a:rPr>
              <a:t>61.54</a:t>
            </a:r>
            <a:r>
              <a:rPr lang="en-US" sz="1600" dirty="0">
                <a:latin typeface="Times New Roman" panose="02020603050405020304" pitchFamily="18" charset="0"/>
                <a:cs typeface="Times New Roman" panose="02020603050405020304" pitchFamily="18" charset="0"/>
              </a:rPr>
              <a:t>%. The variance in model is also low. The ticket booking platform can enhance revenue by utilizing these insights to optimize methods and generate additional revenue streams by incorporating these data into their business plan.</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KEYWORDS</a:t>
            </a:r>
            <a:r>
              <a:rPr lang="en-US" sz="1600" dirty="0">
                <a:latin typeface="Times New Roman" panose="02020603050405020304" pitchFamily="18" charset="0"/>
                <a:cs typeface="Times New Roman" panose="02020603050405020304" pitchFamily="18" charset="0"/>
              </a:rPr>
              <a:t>: Transportation, Travel Time Analysis , Random Forest Regression , Revenue                                  Sales Prediction</a:t>
            </a:r>
            <a:endParaRPr lang="en-IN"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object 5"/>
          <p:cNvPicPr/>
          <p:nvPr/>
        </p:nvPicPr>
        <p:blipFill>
          <a:blip r:embed="rId2" cstate="print"/>
          <a:stretch>
            <a:fillRect/>
          </a:stretch>
        </p:blipFill>
        <p:spPr>
          <a:xfrm>
            <a:off x="305561" y="931164"/>
            <a:ext cx="8534400" cy="39750"/>
          </a:xfrm>
          <a:prstGeom prst="rect">
            <a:avLst/>
          </a:prstGeom>
        </p:spPr>
      </p:pic>
      <p:pic>
        <p:nvPicPr>
          <p:cNvPr id="15" name="Picture 14" descr="LOGO">
            <a:extLst>
              <a:ext uri="{FF2B5EF4-FFF2-40B4-BE49-F238E27FC236}">
                <a16:creationId xmlns:a16="http://schemas.microsoft.com/office/drawing/2014/main" id="{D6B71091-48D8-BC35-7E5E-CA10C02058DC}"/>
              </a:ext>
            </a:extLst>
          </p:cNvPr>
          <p:cNvPicPr>
            <a:picLocks noChangeAspect="1"/>
          </p:cNvPicPr>
          <p:nvPr/>
        </p:nvPicPr>
        <p:blipFill>
          <a:blip r:embed="rId3"/>
          <a:srcRect/>
          <a:stretch>
            <a:fillRect/>
          </a:stretch>
        </p:blipFill>
        <p:spPr bwMode="auto">
          <a:xfrm>
            <a:off x="8077200" y="132704"/>
            <a:ext cx="855345" cy="626110"/>
          </a:xfrm>
          <a:prstGeom prst="rect">
            <a:avLst/>
          </a:prstGeom>
          <a:noFill/>
        </p:spPr>
      </p:pic>
      <p:grpSp>
        <p:nvGrpSpPr>
          <p:cNvPr id="17" name="Group 16">
            <a:extLst>
              <a:ext uri="{FF2B5EF4-FFF2-40B4-BE49-F238E27FC236}">
                <a16:creationId xmlns:a16="http://schemas.microsoft.com/office/drawing/2014/main" id="{216B05BB-8464-52FD-30F7-ED402CEF2D04}"/>
              </a:ext>
            </a:extLst>
          </p:cNvPr>
          <p:cNvGrpSpPr/>
          <p:nvPr/>
        </p:nvGrpSpPr>
        <p:grpSpPr>
          <a:xfrm>
            <a:off x="7047271" y="6324600"/>
            <a:ext cx="1944329" cy="381000"/>
            <a:chOff x="2590800" y="5257800"/>
            <a:chExt cx="1944329" cy="381000"/>
          </a:xfrm>
        </p:grpSpPr>
        <p:sp>
          <p:nvSpPr>
            <p:cNvPr id="18" name="TextBox 17">
              <a:extLst>
                <a:ext uri="{FF2B5EF4-FFF2-40B4-BE49-F238E27FC236}">
                  <a16:creationId xmlns:a16="http://schemas.microsoft.com/office/drawing/2014/main" id="{2ED64AAE-E71B-F2C1-355C-DACBD27EC9AC}"/>
                </a:ext>
              </a:extLst>
            </p:cNvPr>
            <p:cNvSpPr txBox="1"/>
            <p:nvPr/>
          </p:nvSpPr>
          <p:spPr>
            <a:xfrm>
              <a:off x="2590800" y="5257800"/>
              <a:ext cx="381000" cy="369332"/>
            </a:xfrm>
            <a:prstGeom prst="rect">
              <a:avLst/>
            </a:prstGeom>
            <a:solidFill>
              <a:srgbClr val="9900CC"/>
            </a:solidFill>
          </p:spPr>
          <p:txBody>
            <a:bodyPr wrap="square" rtlCol="0">
              <a:spAutoFit/>
            </a:bodyPr>
            <a:lstStyle/>
            <a:p>
              <a:pPr algn="ctr"/>
              <a:r>
                <a:rPr lang="en-IN" b="1" dirty="0">
                  <a:solidFill>
                    <a:schemeClr val="bg1"/>
                  </a:solidFill>
                </a:rPr>
                <a:t>D</a:t>
              </a:r>
            </a:p>
          </p:txBody>
        </p:sp>
        <p:sp>
          <p:nvSpPr>
            <p:cNvPr id="19" name="TextBox 18">
              <a:extLst>
                <a:ext uri="{FF2B5EF4-FFF2-40B4-BE49-F238E27FC236}">
                  <a16:creationId xmlns:a16="http://schemas.microsoft.com/office/drawing/2014/main" id="{26BEF444-C0C4-D6CF-BB63-087C0D22FE74}"/>
                </a:ext>
              </a:extLst>
            </p:cNvPr>
            <p:cNvSpPr txBox="1"/>
            <p:nvPr/>
          </p:nvSpPr>
          <p:spPr>
            <a:xfrm>
              <a:off x="3124200" y="5262405"/>
              <a:ext cx="381000" cy="369332"/>
            </a:xfrm>
            <a:prstGeom prst="rect">
              <a:avLst/>
            </a:prstGeom>
            <a:solidFill>
              <a:srgbClr val="FF9900"/>
            </a:solidFill>
          </p:spPr>
          <p:txBody>
            <a:bodyPr wrap="square" rtlCol="0">
              <a:spAutoFit/>
            </a:bodyPr>
            <a:lstStyle/>
            <a:p>
              <a:pPr algn="ctr"/>
              <a:r>
                <a:rPr lang="en-IN" b="1" dirty="0">
                  <a:solidFill>
                    <a:schemeClr val="bg1"/>
                  </a:solidFill>
                </a:rPr>
                <a:t>I</a:t>
              </a:r>
            </a:p>
          </p:txBody>
        </p:sp>
        <p:sp>
          <p:nvSpPr>
            <p:cNvPr id="20" name="TextBox 19">
              <a:extLst>
                <a:ext uri="{FF2B5EF4-FFF2-40B4-BE49-F238E27FC236}">
                  <a16:creationId xmlns:a16="http://schemas.microsoft.com/office/drawing/2014/main" id="{18444361-2D57-333A-B811-7E6940EB9D56}"/>
                </a:ext>
              </a:extLst>
            </p:cNvPr>
            <p:cNvSpPr txBox="1"/>
            <p:nvPr/>
          </p:nvSpPr>
          <p:spPr>
            <a:xfrm>
              <a:off x="3657600" y="5267010"/>
              <a:ext cx="381000" cy="369332"/>
            </a:xfrm>
            <a:prstGeom prst="rect">
              <a:avLst/>
            </a:prstGeom>
            <a:solidFill>
              <a:srgbClr val="0000FF"/>
            </a:solidFill>
          </p:spPr>
          <p:txBody>
            <a:bodyPr wrap="square" rtlCol="0">
              <a:spAutoFit/>
            </a:bodyPr>
            <a:lstStyle/>
            <a:p>
              <a:pPr algn="ctr"/>
              <a:r>
                <a:rPr lang="en-IN" b="1" dirty="0">
                  <a:solidFill>
                    <a:schemeClr val="bg1"/>
                  </a:solidFill>
                </a:rPr>
                <a:t>E</a:t>
              </a:r>
            </a:p>
          </p:txBody>
        </p:sp>
        <p:sp>
          <p:nvSpPr>
            <p:cNvPr id="21" name="TextBox 20">
              <a:extLst>
                <a:ext uri="{FF2B5EF4-FFF2-40B4-BE49-F238E27FC236}">
                  <a16:creationId xmlns:a16="http://schemas.microsoft.com/office/drawing/2014/main" id="{30DADD10-AF30-44E2-827B-2895919F3940}"/>
                </a:ext>
              </a:extLst>
            </p:cNvPr>
            <p:cNvSpPr txBox="1"/>
            <p:nvPr/>
          </p:nvSpPr>
          <p:spPr>
            <a:xfrm>
              <a:off x="4154129" y="5269468"/>
              <a:ext cx="381000" cy="369332"/>
            </a:xfrm>
            <a:prstGeom prst="rect">
              <a:avLst/>
            </a:prstGeom>
            <a:solidFill>
              <a:srgbClr val="009900"/>
            </a:solidFill>
          </p:spPr>
          <p:txBody>
            <a:bodyPr wrap="square" rtlCol="0">
              <a:spAutoFit/>
            </a:bodyPr>
            <a:lstStyle/>
            <a:p>
              <a:pPr algn="ctr"/>
              <a:r>
                <a:rPr lang="en-IN" b="1" dirty="0">
                  <a:solidFill>
                    <a:schemeClr val="bg1"/>
                  </a:solidFill>
                </a:rPr>
                <a:t>T</a:t>
              </a:r>
            </a:p>
          </p:txBody>
        </p:sp>
      </p:grpSp>
      <p:sp>
        <p:nvSpPr>
          <p:cNvPr id="2" name="TextBox 1">
            <a:extLst>
              <a:ext uri="{FF2B5EF4-FFF2-40B4-BE49-F238E27FC236}">
                <a16:creationId xmlns:a16="http://schemas.microsoft.com/office/drawing/2014/main" id="{23A93238-4ED3-CCDA-52D9-35631EA3CC5A}"/>
              </a:ext>
            </a:extLst>
          </p:cNvPr>
          <p:cNvSpPr txBox="1"/>
          <p:nvPr/>
        </p:nvSpPr>
        <p:spPr>
          <a:xfrm>
            <a:off x="305561" y="1143264"/>
            <a:ext cx="3381955"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INTRODUCTION</a:t>
            </a:r>
            <a:endParaRPr lang="en-IN" sz="20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2BDFDE72-6EFF-5C89-CAAD-7C7A3BD2F01F}"/>
              </a:ext>
            </a:extLst>
          </p:cNvPr>
          <p:cNvSpPr txBox="1"/>
          <p:nvPr/>
        </p:nvSpPr>
        <p:spPr>
          <a:xfrm>
            <a:off x="305561" y="1511330"/>
            <a:ext cx="8457439" cy="5016758"/>
          </a:xfrm>
          <a:prstGeom prst="rect">
            <a:avLst/>
          </a:prstGeom>
          <a:noFill/>
        </p:spPr>
        <p:txBody>
          <a:bodyPr wrap="square" rtlCol="0">
            <a:spAutoFit/>
          </a:bodyPr>
          <a:lstStyle/>
          <a:p>
            <a:pPr algn="just"/>
            <a:r>
              <a:rPr lang="en-US" sz="2000" dirty="0">
                <a:effectLst/>
                <a:latin typeface="Times New Roman" panose="02020603050405020304" pitchFamily="18" charset="0"/>
              </a:rPr>
              <a:t>The project "</a:t>
            </a:r>
            <a:r>
              <a:rPr lang="en-US" sz="2000" dirty="0">
                <a:latin typeface="Times New Roman" panose="02020603050405020304" pitchFamily="18" charset="0"/>
                <a:cs typeface="Times New Roman" panose="02020603050405020304" pitchFamily="18" charset="0"/>
              </a:rPr>
              <a:t> Transportation Demand Prediction </a:t>
            </a:r>
            <a:r>
              <a:rPr lang="en-US" sz="2000" dirty="0">
                <a:effectLst/>
                <a:latin typeface="Times New Roman" panose="02020603050405020304" pitchFamily="18" charset="0"/>
              </a:rPr>
              <a:t>" addresses the growing need for efficient and intelligent ticket management systems across various industries, such as airlines, railways, and entertainment. Ticket booking trends are influenced by numerous factors, including seasonal variations, special events, pricing strategies, and customer behavior. Traditional methods of managing ticket allocation often fall short in accurately predicting demand, leading to either overbooking or underutilization of resources. This project leverages the power of regression analysis to develop a predictive model that optimizes ticket booking and enhances overall operational efficiency</a:t>
            </a:r>
          </a:p>
          <a:p>
            <a:pPr algn="just"/>
            <a:endParaRPr lang="en-US" sz="2000" dirty="0">
              <a:latin typeface="Times New Roman" panose="02020603050405020304" pitchFamily="18" charset="0"/>
            </a:endParaRPr>
          </a:p>
          <a:p>
            <a:pPr algn="just"/>
            <a:r>
              <a:rPr lang="en-IN" sz="2000" dirty="0">
                <a:effectLst/>
                <a:latin typeface="Times New Roman" panose="02020603050405020304" pitchFamily="18" charset="0"/>
                <a:ea typeface="Times New Roman" panose="02020603050405020304" pitchFamily="18" charset="0"/>
              </a:rPr>
              <a:t>The motivation for this project stems from the challenges faced by businesses and organizations in accurately forecasting ticket bookings. In the competitive travel and entertainment industries, precise demand predictions are crucial for optimizing inventory, pricing strategies, and resource allocation. Traditional methods often fall short in accuracy and efficiency, leading to overbooking or </a:t>
            </a:r>
            <a:r>
              <a:rPr lang="en-IN" sz="2000" dirty="0" err="1">
                <a:effectLst/>
                <a:latin typeface="Times New Roman" panose="02020603050405020304" pitchFamily="18" charset="0"/>
                <a:ea typeface="Times New Roman" panose="02020603050405020304" pitchFamily="18" charset="0"/>
              </a:rPr>
              <a:t>underbooking</a:t>
            </a:r>
            <a:r>
              <a:rPr lang="en-IN" sz="2000" dirty="0">
                <a:effectLst/>
                <a:latin typeface="Times New Roman" panose="02020603050405020304" pitchFamily="18" charset="0"/>
                <a:ea typeface="Times New Roman" panose="02020603050405020304" pitchFamily="18" charset="0"/>
              </a:rPr>
              <a:t> issues</a:t>
            </a:r>
            <a:endParaRPr lang="en-IN" sz="2000" dirty="0"/>
          </a:p>
        </p:txBody>
      </p:sp>
    </p:spTree>
    <p:extLst>
      <p:ext uri="{BB962C8B-B14F-4D97-AF65-F5344CB8AC3E}">
        <p14:creationId xmlns:p14="http://schemas.microsoft.com/office/powerpoint/2010/main" val="7778214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object 5"/>
          <p:cNvPicPr/>
          <p:nvPr/>
        </p:nvPicPr>
        <p:blipFill>
          <a:blip r:embed="rId2" cstate="print"/>
          <a:stretch>
            <a:fillRect/>
          </a:stretch>
        </p:blipFill>
        <p:spPr>
          <a:xfrm>
            <a:off x="305561" y="931164"/>
            <a:ext cx="8534400" cy="39750"/>
          </a:xfrm>
          <a:prstGeom prst="rect">
            <a:avLst/>
          </a:prstGeom>
        </p:spPr>
      </p:pic>
      <p:pic>
        <p:nvPicPr>
          <p:cNvPr id="15" name="Picture 14" descr="LOGO">
            <a:extLst>
              <a:ext uri="{FF2B5EF4-FFF2-40B4-BE49-F238E27FC236}">
                <a16:creationId xmlns:a16="http://schemas.microsoft.com/office/drawing/2014/main" id="{D6B71091-48D8-BC35-7E5E-CA10C02058DC}"/>
              </a:ext>
            </a:extLst>
          </p:cNvPr>
          <p:cNvPicPr>
            <a:picLocks noChangeAspect="1"/>
          </p:cNvPicPr>
          <p:nvPr/>
        </p:nvPicPr>
        <p:blipFill>
          <a:blip r:embed="rId3"/>
          <a:srcRect/>
          <a:stretch>
            <a:fillRect/>
          </a:stretch>
        </p:blipFill>
        <p:spPr bwMode="auto">
          <a:xfrm>
            <a:off x="8077200" y="132704"/>
            <a:ext cx="855345" cy="626110"/>
          </a:xfrm>
          <a:prstGeom prst="rect">
            <a:avLst/>
          </a:prstGeom>
          <a:noFill/>
        </p:spPr>
      </p:pic>
      <p:grpSp>
        <p:nvGrpSpPr>
          <p:cNvPr id="17" name="Group 16">
            <a:extLst>
              <a:ext uri="{FF2B5EF4-FFF2-40B4-BE49-F238E27FC236}">
                <a16:creationId xmlns:a16="http://schemas.microsoft.com/office/drawing/2014/main" id="{216B05BB-8464-52FD-30F7-ED402CEF2D04}"/>
              </a:ext>
            </a:extLst>
          </p:cNvPr>
          <p:cNvGrpSpPr/>
          <p:nvPr/>
        </p:nvGrpSpPr>
        <p:grpSpPr>
          <a:xfrm>
            <a:off x="7047271" y="6324600"/>
            <a:ext cx="1944329" cy="381000"/>
            <a:chOff x="2590800" y="5257800"/>
            <a:chExt cx="1944329" cy="381000"/>
          </a:xfrm>
        </p:grpSpPr>
        <p:sp>
          <p:nvSpPr>
            <p:cNvPr id="18" name="TextBox 17">
              <a:extLst>
                <a:ext uri="{FF2B5EF4-FFF2-40B4-BE49-F238E27FC236}">
                  <a16:creationId xmlns:a16="http://schemas.microsoft.com/office/drawing/2014/main" id="{2ED64AAE-E71B-F2C1-355C-DACBD27EC9AC}"/>
                </a:ext>
              </a:extLst>
            </p:cNvPr>
            <p:cNvSpPr txBox="1"/>
            <p:nvPr/>
          </p:nvSpPr>
          <p:spPr>
            <a:xfrm>
              <a:off x="2590800" y="5257800"/>
              <a:ext cx="381000" cy="369332"/>
            </a:xfrm>
            <a:prstGeom prst="rect">
              <a:avLst/>
            </a:prstGeom>
            <a:solidFill>
              <a:srgbClr val="9900CC"/>
            </a:solidFill>
          </p:spPr>
          <p:txBody>
            <a:bodyPr wrap="square" rtlCol="0">
              <a:spAutoFit/>
            </a:bodyPr>
            <a:lstStyle/>
            <a:p>
              <a:pPr algn="ctr"/>
              <a:r>
                <a:rPr lang="en-IN" b="1" dirty="0">
                  <a:solidFill>
                    <a:schemeClr val="bg1"/>
                  </a:solidFill>
                </a:rPr>
                <a:t>D</a:t>
              </a:r>
            </a:p>
          </p:txBody>
        </p:sp>
        <p:sp>
          <p:nvSpPr>
            <p:cNvPr id="19" name="TextBox 18">
              <a:extLst>
                <a:ext uri="{FF2B5EF4-FFF2-40B4-BE49-F238E27FC236}">
                  <a16:creationId xmlns:a16="http://schemas.microsoft.com/office/drawing/2014/main" id="{26BEF444-C0C4-D6CF-BB63-087C0D22FE74}"/>
                </a:ext>
              </a:extLst>
            </p:cNvPr>
            <p:cNvSpPr txBox="1"/>
            <p:nvPr/>
          </p:nvSpPr>
          <p:spPr>
            <a:xfrm>
              <a:off x="3124200" y="5262405"/>
              <a:ext cx="381000" cy="369332"/>
            </a:xfrm>
            <a:prstGeom prst="rect">
              <a:avLst/>
            </a:prstGeom>
            <a:solidFill>
              <a:srgbClr val="FF9900"/>
            </a:solidFill>
          </p:spPr>
          <p:txBody>
            <a:bodyPr wrap="square" rtlCol="0">
              <a:spAutoFit/>
            </a:bodyPr>
            <a:lstStyle/>
            <a:p>
              <a:pPr algn="ctr"/>
              <a:r>
                <a:rPr lang="en-IN" b="1" dirty="0">
                  <a:solidFill>
                    <a:schemeClr val="bg1"/>
                  </a:solidFill>
                </a:rPr>
                <a:t>I</a:t>
              </a:r>
            </a:p>
          </p:txBody>
        </p:sp>
        <p:sp>
          <p:nvSpPr>
            <p:cNvPr id="20" name="TextBox 19">
              <a:extLst>
                <a:ext uri="{FF2B5EF4-FFF2-40B4-BE49-F238E27FC236}">
                  <a16:creationId xmlns:a16="http://schemas.microsoft.com/office/drawing/2014/main" id="{18444361-2D57-333A-B811-7E6940EB9D56}"/>
                </a:ext>
              </a:extLst>
            </p:cNvPr>
            <p:cNvSpPr txBox="1"/>
            <p:nvPr/>
          </p:nvSpPr>
          <p:spPr>
            <a:xfrm>
              <a:off x="3657600" y="5267010"/>
              <a:ext cx="381000" cy="369332"/>
            </a:xfrm>
            <a:prstGeom prst="rect">
              <a:avLst/>
            </a:prstGeom>
            <a:solidFill>
              <a:srgbClr val="0000FF"/>
            </a:solidFill>
          </p:spPr>
          <p:txBody>
            <a:bodyPr wrap="square" rtlCol="0">
              <a:spAutoFit/>
            </a:bodyPr>
            <a:lstStyle/>
            <a:p>
              <a:pPr algn="ctr"/>
              <a:r>
                <a:rPr lang="en-IN" b="1" dirty="0">
                  <a:solidFill>
                    <a:schemeClr val="bg1"/>
                  </a:solidFill>
                </a:rPr>
                <a:t>E</a:t>
              </a:r>
            </a:p>
          </p:txBody>
        </p:sp>
        <p:sp>
          <p:nvSpPr>
            <p:cNvPr id="21" name="TextBox 20">
              <a:extLst>
                <a:ext uri="{FF2B5EF4-FFF2-40B4-BE49-F238E27FC236}">
                  <a16:creationId xmlns:a16="http://schemas.microsoft.com/office/drawing/2014/main" id="{30DADD10-AF30-44E2-827B-2895919F3940}"/>
                </a:ext>
              </a:extLst>
            </p:cNvPr>
            <p:cNvSpPr txBox="1"/>
            <p:nvPr/>
          </p:nvSpPr>
          <p:spPr>
            <a:xfrm>
              <a:off x="4154129" y="5269468"/>
              <a:ext cx="381000" cy="369332"/>
            </a:xfrm>
            <a:prstGeom prst="rect">
              <a:avLst/>
            </a:prstGeom>
            <a:solidFill>
              <a:srgbClr val="009900"/>
            </a:solidFill>
          </p:spPr>
          <p:txBody>
            <a:bodyPr wrap="square" rtlCol="0">
              <a:spAutoFit/>
            </a:bodyPr>
            <a:lstStyle/>
            <a:p>
              <a:pPr algn="ctr"/>
              <a:r>
                <a:rPr lang="en-IN" b="1" dirty="0">
                  <a:solidFill>
                    <a:schemeClr val="bg1"/>
                  </a:solidFill>
                </a:rPr>
                <a:t>T</a:t>
              </a:r>
            </a:p>
          </p:txBody>
        </p:sp>
      </p:grpSp>
      <p:sp>
        <p:nvSpPr>
          <p:cNvPr id="2" name="TextBox 1">
            <a:extLst>
              <a:ext uri="{FF2B5EF4-FFF2-40B4-BE49-F238E27FC236}">
                <a16:creationId xmlns:a16="http://schemas.microsoft.com/office/drawing/2014/main" id="{0FA6CC28-40C7-D2D2-6E3B-E26BF776C2F8}"/>
              </a:ext>
            </a:extLst>
          </p:cNvPr>
          <p:cNvSpPr txBox="1"/>
          <p:nvPr/>
        </p:nvSpPr>
        <p:spPr>
          <a:xfrm>
            <a:off x="305561" y="1143264"/>
            <a:ext cx="2282997" cy="400110"/>
          </a:xfrm>
          <a:prstGeom prst="rect">
            <a:avLst/>
          </a:prstGeom>
          <a:noFill/>
        </p:spPr>
        <p:txBody>
          <a:bodyPr wrap="none" rtlCol="0">
            <a:spAutoFit/>
          </a:bodyPr>
          <a:lstStyle/>
          <a:p>
            <a:r>
              <a:rPr lang="en-IN" sz="2000" b="1" dirty="0">
                <a:latin typeface="Times New Roman" panose="02020603050405020304" pitchFamily="18" charset="0"/>
                <a:cs typeface="Times New Roman" panose="02020603050405020304" pitchFamily="18" charset="0"/>
              </a:rPr>
              <a:t>Problem Definition</a:t>
            </a:r>
            <a:endParaRPr lang="en-IN" sz="2000" dirty="0"/>
          </a:p>
        </p:txBody>
      </p:sp>
      <p:sp>
        <p:nvSpPr>
          <p:cNvPr id="3" name="TextBox 2">
            <a:extLst>
              <a:ext uri="{FF2B5EF4-FFF2-40B4-BE49-F238E27FC236}">
                <a16:creationId xmlns:a16="http://schemas.microsoft.com/office/drawing/2014/main" id="{6EEA27FE-8974-9E78-8B1C-2889DBE28EFB}"/>
              </a:ext>
            </a:extLst>
          </p:cNvPr>
          <p:cNvSpPr txBox="1"/>
          <p:nvPr/>
        </p:nvSpPr>
        <p:spPr>
          <a:xfrm>
            <a:off x="305562" y="1543374"/>
            <a:ext cx="8381238" cy="4346575"/>
          </a:xfrm>
          <a:prstGeom prst="rect">
            <a:avLst/>
          </a:prstGeom>
          <a:noFill/>
        </p:spPr>
        <p:txBody>
          <a:bodyPr wrap="square" rtlCol="0">
            <a:spAutoFit/>
          </a:bodyPr>
          <a:lstStyle/>
          <a:p>
            <a:pPr marL="0" indent="0" algn="just">
              <a:lnSpc>
                <a:spcPct val="107000"/>
              </a:lnSpc>
              <a:spcBef>
                <a:spcPts val="1400"/>
              </a:spcBef>
              <a:spcAft>
                <a:spcPts val="1400"/>
              </a:spcAft>
              <a:buNone/>
            </a:pPr>
            <a:r>
              <a:rPr lang="en-US" sz="1800">
                <a:effectLst/>
                <a:latin typeface="Times New Roman" panose="02020603050405020304" pitchFamily="18" charset="0"/>
                <a:cs typeface="Times New Roman" panose="02020603050405020304" pitchFamily="18" charset="0"/>
              </a:rPr>
              <a:t>The primary problem addressed by this project is the lack of accurate and reliable forecasting for ticket bookings. Current systems may rely on simplistic or outdated methods that fail to account for complex patterns and trends in booking data. This can lead to inefficiencies in inventory management, revenue optimization, and customer satisfaction.</a:t>
            </a:r>
            <a:endParaRPr lang="en-US" sz="1800">
              <a:latin typeface="Times New Roman" panose="02020603050405020304" pitchFamily="18" charset="0"/>
              <a:cs typeface="Times New Roman" panose="02020603050405020304" pitchFamily="18" charset="0"/>
            </a:endParaRPr>
          </a:p>
          <a:p>
            <a:pPr marL="0" indent="0" algn="just">
              <a:lnSpc>
                <a:spcPct val="107000"/>
              </a:lnSpc>
              <a:spcBef>
                <a:spcPts val="1400"/>
              </a:spcBef>
              <a:spcAft>
                <a:spcPts val="1400"/>
              </a:spcAft>
              <a:buNone/>
            </a:pPr>
            <a:r>
              <a:rPr lang="en-US" sz="1800">
                <a:effectLst/>
                <a:latin typeface="Times New Roman" panose="02020603050405020304" pitchFamily="18" charset="0"/>
              </a:rPr>
              <a:t>Specifically, the problems include:</a:t>
            </a:r>
            <a:endParaRPr lang="en-US" sz="1800">
              <a:effectLst/>
              <a:latin typeface="Calibri" panose="020F0502020204030204" pitchFamily="34" charset="0"/>
            </a:endParaRPr>
          </a:p>
          <a:p>
            <a:pPr marL="342900" lvl="0" indent="-342900" algn="just">
              <a:lnSpc>
                <a:spcPct val="107000"/>
              </a:lnSpc>
              <a:spcBef>
                <a:spcPts val="1400"/>
              </a:spcBef>
              <a:spcAft>
                <a:spcPts val="0"/>
              </a:spcAft>
              <a:buFont typeface="Noto Sans Symbols"/>
              <a:buChar char="●"/>
            </a:pPr>
            <a:r>
              <a:rPr lang="en-US" sz="1800" b="1">
                <a:effectLst/>
                <a:latin typeface="Times New Roman" panose="02020603050405020304" pitchFamily="18" charset="0"/>
              </a:rPr>
              <a:t>Inaccurate Predictions</a:t>
            </a:r>
            <a:r>
              <a:rPr lang="en-US" sz="1800">
                <a:effectLst/>
                <a:latin typeface="Times New Roman" panose="02020603050405020304" pitchFamily="18" charset="0"/>
              </a:rPr>
              <a:t>: Existing methods may not capture the intricacies of booking trends, leading to unreliable forecasts.</a:t>
            </a:r>
            <a:endParaRPr lang="en-US" sz="1800">
              <a:effectLst/>
              <a:latin typeface="Calibri" panose="020F0502020204030204" pitchFamily="34" charset="0"/>
            </a:endParaRPr>
          </a:p>
          <a:p>
            <a:pPr marL="342900" lvl="0" indent="-342900" algn="just">
              <a:lnSpc>
                <a:spcPct val="107000"/>
              </a:lnSpc>
              <a:spcBef>
                <a:spcPts val="0"/>
              </a:spcBef>
              <a:spcAft>
                <a:spcPts val="0"/>
              </a:spcAft>
              <a:buFont typeface="Noto Sans Symbols"/>
              <a:buChar char="●"/>
            </a:pPr>
            <a:r>
              <a:rPr lang="en-US" sz="1800" b="1">
                <a:effectLst/>
                <a:latin typeface="Times New Roman" panose="02020603050405020304" pitchFamily="18" charset="0"/>
              </a:rPr>
              <a:t>Inefficient Resource Allocation</a:t>
            </a:r>
            <a:r>
              <a:rPr lang="en-US" sz="1800">
                <a:effectLst/>
                <a:latin typeface="Times New Roman" panose="02020603050405020304" pitchFamily="18" charset="0"/>
              </a:rPr>
              <a:t>: Poor predictions can result in either overbooking or underbooking, affecting operational efficiency and customer satisfaction.</a:t>
            </a:r>
            <a:endParaRPr lang="en-US" sz="1800">
              <a:latin typeface="Calibri" panose="020F0502020204030204" pitchFamily="34" charset="0"/>
            </a:endParaRPr>
          </a:p>
          <a:p>
            <a:pPr marL="342900" lvl="0" indent="-342900" algn="just">
              <a:lnSpc>
                <a:spcPct val="107000"/>
              </a:lnSpc>
              <a:spcBef>
                <a:spcPts val="0"/>
              </a:spcBef>
              <a:spcAft>
                <a:spcPts val="0"/>
              </a:spcAft>
              <a:buFont typeface="Noto Sans Symbols"/>
              <a:buChar char="●"/>
            </a:pPr>
            <a:r>
              <a:rPr lang="en-US" sz="1800" b="1">
                <a:effectLst/>
                <a:latin typeface="Times New Roman" panose="02020603050405020304" pitchFamily="18" charset="0"/>
              </a:rPr>
              <a:t>Limited Data Utilization</a:t>
            </a:r>
            <a:r>
              <a:rPr lang="en-US" sz="1800">
                <a:effectLst/>
                <a:latin typeface="Times New Roman" panose="02020603050405020304" pitchFamily="18" charset="0"/>
              </a:rPr>
              <a:t>: Traditional systems may not fully leverage historical data or external factors that influence booking patterns</a:t>
            </a:r>
            <a:endParaRPr lang="en-IN" dirty="0"/>
          </a:p>
        </p:txBody>
      </p:sp>
    </p:spTree>
    <p:extLst>
      <p:ext uri="{BB962C8B-B14F-4D97-AF65-F5344CB8AC3E}">
        <p14:creationId xmlns:p14="http://schemas.microsoft.com/office/powerpoint/2010/main" val="27711205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object 5"/>
          <p:cNvPicPr/>
          <p:nvPr/>
        </p:nvPicPr>
        <p:blipFill>
          <a:blip r:embed="rId2" cstate="print"/>
          <a:stretch>
            <a:fillRect/>
          </a:stretch>
        </p:blipFill>
        <p:spPr>
          <a:xfrm>
            <a:off x="305561" y="931164"/>
            <a:ext cx="8534400" cy="39750"/>
          </a:xfrm>
          <a:prstGeom prst="rect">
            <a:avLst/>
          </a:prstGeom>
        </p:spPr>
      </p:pic>
      <p:pic>
        <p:nvPicPr>
          <p:cNvPr id="15" name="Picture 14" descr="LOGO">
            <a:extLst>
              <a:ext uri="{FF2B5EF4-FFF2-40B4-BE49-F238E27FC236}">
                <a16:creationId xmlns:a16="http://schemas.microsoft.com/office/drawing/2014/main" id="{D6B71091-48D8-BC35-7E5E-CA10C02058DC}"/>
              </a:ext>
            </a:extLst>
          </p:cNvPr>
          <p:cNvPicPr>
            <a:picLocks noChangeAspect="1"/>
          </p:cNvPicPr>
          <p:nvPr/>
        </p:nvPicPr>
        <p:blipFill>
          <a:blip r:embed="rId3"/>
          <a:srcRect/>
          <a:stretch>
            <a:fillRect/>
          </a:stretch>
        </p:blipFill>
        <p:spPr bwMode="auto">
          <a:xfrm>
            <a:off x="8077200" y="132704"/>
            <a:ext cx="855345" cy="626110"/>
          </a:xfrm>
          <a:prstGeom prst="rect">
            <a:avLst/>
          </a:prstGeom>
          <a:noFill/>
        </p:spPr>
      </p:pic>
      <p:grpSp>
        <p:nvGrpSpPr>
          <p:cNvPr id="17" name="Group 16">
            <a:extLst>
              <a:ext uri="{FF2B5EF4-FFF2-40B4-BE49-F238E27FC236}">
                <a16:creationId xmlns:a16="http://schemas.microsoft.com/office/drawing/2014/main" id="{216B05BB-8464-52FD-30F7-ED402CEF2D04}"/>
              </a:ext>
            </a:extLst>
          </p:cNvPr>
          <p:cNvGrpSpPr/>
          <p:nvPr/>
        </p:nvGrpSpPr>
        <p:grpSpPr>
          <a:xfrm>
            <a:off x="7047271" y="6324600"/>
            <a:ext cx="1944329" cy="381000"/>
            <a:chOff x="2590800" y="5257800"/>
            <a:chExt cx="1944329" cy="381000"/>
          </a:xfrm>
        </p:grpSpPr>
        <p:sp>
          <p:nvSpPr>
            <p:cNvPr id="18" name="TextBox 17">
              <a:extLst>
                <a:ext uri="{FF2B5EF4-FFF2-40B4-BE49-F238E27FC236}">
                  <a16:creationId xmlns:a16="http://schemas.microsoft.com/office/drawing/2014/main" id="{2ED64AAE-E71B-F2C1-355C-DACBD27EC9AC}"/>
                </a:ext>
              </a:extLst>
            </p:cNvPr>
            <p:cNvSpPr txBox="1"/>
            <p:nvPr/>
          </p:nvSpPr>
          <p:spPr>
            <a:xfrm>
              <a:off x="2590800" y="5257800"/>
              <a:ext cx="381000" cy="369332"/>
            </a:xfrm>
            <a:prstGeom prst="rect">
              <a:avLst/>
            </a:prstGeom>
            <a:solidFill>
              <a:srgbClr val="9900CC"/>
            </a:solidFill>
          </p:spPr>
          <p:txBody>
            <a:bodyPr wrap="square" rtlCol="0">
              <a:spAutoFit/>
            </a:bodyPr>
            <a:lstStyle/>
            <a:p>
              <a:pPr algn="ctr"/>
              <a:r>
                <a:rPr lang="en-IN" b="1" dirty="0">
                  <a:solidFill>
                    <a:schemeClr val="bg1"/>
                  </a:solidFill>
                </a:rPr>
                <a:t>D</a:t>
              </a:r>
            </a:p>
          </p:txBody>
        </p:sp>
        <p:sp>
          <p:nvSpPr>
            <p:cNvPr id="19" name="TextBox 18">
              <a:extLst>
                <a:ext uri="{FF2B5EF4-FFF2-40B4-BE49-F238E27FC236}">
                  <a16:creationId xmlns:a16="http://schemas.microsoft.com/office/drawing/2014/main" id="{26BEF444-C0C4-D6CF-BB63-087C0D22FE74}"/>
                </a:ext>
              </a:extLst>
            </p:cNvPr>
            <p:cNvSpPr txBox="1"/>
            <p:nvPr/>
          </p:nvSpPr>
          <p:spPr>
            <a:xfrm>
              <a:off x="3124200" y="5262405"/>
              <a:ext cx="381000" cy="369332"/>
            </a:xfrm>
            <a:prstGeom prst="rect">
              <a:avLst/>
            </a:prstGeom>
            <a:solidFill>
              <a:srgbClr val="FF9900"/>
            </a:solidFill>
          </p:spPr>
          <p:txBody>
            <a:bodyPr wrap="square" rtlCol="0">
              <a:spAutoFit/>
            </a:bodyPr>
            <a:lstStyle/>
            <a:p>
              <a:pPr algn="ctr"/>
              <a:r>
                <a:rPr lang="en-IN" b="1" dirty="0">
                  <a:solidFill>
                    <a:schemeClr val="bg1"/>
                  </a:solidFill>
                </a:rPr>
                <a:t>I</a:t>
              </a:r>
            </a:p>
          </p:txBody>
        </p:sp>
        <p:sp>
          <p:nvSpPr>
            <p:cNvPr id="20" name="TextBox 19">
              <a:extLst>
                <a:ext uri="{FF2B5EF4-FFF2-40B4-BE49-F238E27FC236}">
                  <a16:creationId xmlns:a16="http://schemas.microsoft.com/office/drawing/2014/main" id="{18444361-2D57-333A-B811-7E6940EB9D56}"/>
                </a:ext>
              </a:extLst>
            </p:cNvPr>
            <p:cNvSpPr txBox="1"/>
            <p:nvPr/>
          </p:nvSpPr>
          <p:spPr>
            <a:xfrm>
              <a:off x="3657600" y="5267010"/>
              <a:ext cx="381000" cy="369332"/>
            </a:xfrm>
            <a:prstGeom prst="rect">
              <a:avLst/>
            </a:prstGeom>
            <a:solidFill>
              <a:srgbClr val="0000FF"/>
            </a:solidFill>
          </p:spPr>
          <p:txBody>
            <a:bodyPr wrap="square" rtlCol="0">
              <a:spAutoFit/>
            </a:bodyPr>
            <a:lstStyle/>
            <a:p>
              <a:pPr algn="ctr"/>
              <a:r>
                <a:rPr lang="en-IN" b="1" dirty="0">
                  <a:solidFill>
                    <a:schemeClr val="bg1"/>
                  </a:solidFill>
                </a:rPr>
                <a:t>E</a:t>
              </a:r>
            </a:p>
          </p:txBody>
        </p:sp>
        <p:sp>
          <p:nvSpPr>
            <p:cNvPr id="21" name="TextBox 20">
              <a:extLst>
                <a:ext uri="{FF2B5EF4-FFF2-40B4-BE49-F238E27FC236}">
                  <a16:creationId xmlns:a16="http://schemas.microsoft.com/office/drawing/2014/main" id="{30DADD10-AF30-44E2-827B-2895919F3940}"/>
                </a:ext>
              </a:extLst>
            </p:cNvPr>
            <p:cNvSpPr txBox="1"/>
            <p:nvPr/>
          </p:nvSpPr>
          <p:spPr>
            <a:xfrm>
              <a:off x="4154129" y="5269468"/>
              <a:ext cx="381000" cy="369332"/>
            </a:xfrm>
            <a:prstGeom prst="rect">
              <a:avLst/>
            </a:prstGeom>
            <a:solidFill>
              <a:srgbClr val="009900"/>
            </a:solidFill>
          </p:spPr>
          <p:txBody>
            <a:bodyPr wrap="square" rtlCol="0">
              <a:spAutoFit/>
            </a:bodyPr>
            <a:lstStyle/>
            <a:p>
              <a:pPr algn="ctr"/>
              <a:r>
                <a:rPr lang="en-IN" b="1" dirty="0">
                  <a:solidFill>
                    <a:schemeClr val="bg1"/>
                  </a:solidFill>
                </a:rPr>
                <a:t>T</a:t>
              </a:r>
            </a:p>
          </p:txBody>
        </p:sp>
      </p:grpSp>
      <p:sp>
        <p:nvSpPr>
          <p:cNvPr id="4" name="TextBox 3">
            <a:extLst>
              <a:ext uri="{FF2B5EF4-FFF2-40B4-BE49-F238E27FC236}">
                <a16:creationId xmlns:a16="http://schemas.microsoft.com/office/drawing/2014/main" id="{042E848E-2D73-B9C3-5AFB-DD66709D0EF6}"/>
              </a:ext>
            </a:extLst>
          </p:cNvPr>
          <p:cNvSpPr txBox="1"/>
          <p:nvPr/>
        </p:nvSpPr>
        <p:spPr>
          <a:xfrm>
            <a:off x="179779" y="970914"/>
            <a:ext cx="3675938"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EXISTING SYSTEM</a:t>
            </a:r>
            <a:endParaRPr lang="en-IN" sz="20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6E1DE4D6-FCCF-1209-4655-5352BA25E465}"/>
              </a:ext>
            </a:extLst>
          </p:cNvPr>
          <p:cNvSpPr txBox="1"/>
          <p:nvPr/>
        </p:nvSpPr>
        <p:spPr>
          <a:xfrm>
            <a:off x="305561" y="1371024"/>
            <a:ext cx="8534400" cy="1200329"/>
          </a:xfrm>
          <a:prstGeom prst="rect">
            <a:avLst/>
          </a:prstGeom>
          <a:noFill/>
        </p:spPr>
        <p:txBody>
          <a:bodyPr wrap="square" rtlCol="0">
            <a:spAutoFit/>
          </a:bodyPr>
          <a:lstStyle/>
          <a:p>
            <a:pPr algn="just">
              <a:lnSpc>
                <a:spcPct val="100000"/>
              </a:lnSpc>
              <a:buNone/>
            </a:pPr>
            <a:r>
              <a:rPr lang="en-US" sz="1800" b="1" dirty="0">
                <a:latin typeface="Times New Roman" panose="02020603050405020304" pitchFamily="18" charset="0"/>
                <a:cs typeface="Times New Roman" panose="02020603050405020304" pitchFamily="18" charset="0"/>
                <a:sym typeface="+mn-ea"/>
              </a:rPr>
              <a:t>DA4PT </a:t>
            </a:r>
            <a:r>
              <a:rPr lang="en-US" sz="1800" dirty="0">
                <a:latin typeface="Times New Roman" panose="02020603050405020304" pitchFamily="18" charset="0"/>
                <a:cs typeface="Times New Roman" panose="02020603050405020304" pitchFamily="18" charset="0"/>
                <a:sym typeface="+mn-ea"/>
              </a:rPr>
              <a:t>(Data Analytics for Public Transport)is a widely used model in transportation planning. DA4PT, for discovering the factors that influence travelers in booking and purchasing bus tickets. DA4PT focuses on analyzing transportation data to inform planning decisions.</a:t>
            </a:r>
            <a:r>
              <a:rPr lang="en-US" sz="1800" b="1" dirty="0">
                <a:latin typeface="Times New Roman" panose="02020603050405020304" pitchFamily="18" charset="0"/>
                <a:cs typeface="Times New Roman" panose="02020603050405020304" pitchFamily="18" charset="0"/>
                <a:sym typeface="+mn-ea"/>
              </a:rPr>
              <a:t> </a:t>
            </a:r>
            <a:r>
              <a:rPr lang="en-US" sz="1800" dirty="0">
                <a:latin typeface="Times New Roman" panose="02020603050405020304" pitchFamily="18" charset="0"/>
                <a:cs typeface="Times New Roman" panose="02020603050405020304" pitchFamily="18" charset="0"/>
                <a:sym typeface="+mn-ea"/>
              </a:rPr>
              <a:t>DA4PT</a:t>
            </a:r>
            <a:r>
              <a:rPr lang="en-US" b="1" dirty="0">
                <a:latin typeface="Times New Roman" panose="02020603050405020304" pitchFamily="18" charset="0"/>
                <a:cs typeface="Times New Roman" panose="02020603050405020304" pitchFamily="18" charset="0"/>
                <a:sym typeface="+mn-ea"/>
              </a:rPr>
              <a:t> </a:t>
            </a:r>
            <a:r>
              <a:rPr lang="en-US" dirty="0">
                <a:latin typeface="Times New Roman" panose="02020603050405020304" pitchFamily="18" charset="0"/>
                <a:cs typeface="Times New Roman" panose="02020603050405020304" pitchFamily="18" charset="0"/>
                <a:sym typeface="+mn-ea"/>
              </a:rPr>
              <a:t>uses  </a:t>
            </a:r>
            <a:r>
              <a:rPr lang="en-US" dirty="0" err="1">
                <a:latin typeface="Times New Roman" panose="02020603050405020304" pitchFamily="18" charset="0"/>
                <a:cs typeface="Times New Roman" panose="02020603050405020304" pitchFamily="18" charset="0"/>
                <a:sym typeface="+mn-ea"/>
              </a:rPr>
              <a:t>XGBoost</a:t>
            </a:r>
            <a:r>
              <a:rPr lang="en-US" dirty="0">
                <a:latin typeface="Times New Roman" panose="02020603050405020304" pitchFamily="18" charset="0"/>
                <a:cs typeface="Times New Roman" panose="02020603050405020304" pitchFamily="18" charset="0"/>
                <a:sym typeface="+mn-ea"/>
              </a:rPr>
              <a:t> for the model implementation with R2(0.51%)</a:t>
            </a:r>
            <a:endParaRPr lang="en-US" sz="18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E0736301-5BAE-7C1C-AD00-B913262BCFE4}"/>
              </a:ext>
            </a:extLst>
          </p:cNvPr>
          <p:cNvSpPr txBox="1"/>
          <p:nvPr/>
        </p:nvSpPr>
        <p:spPr>
          <a:xfrm>
            <a:off x="320309" y="4408365"/>
            <a:ext cx="3809240" cy="923330"/>
          </a:xfrm>
          <a:prstGeom prst="rect">
            <a:avLst/>
          </a:prstGeom>
          <a:noFill/>
        </p:spPr>
        <p:txBody>
          <a:bodyPr wrap="square" rtlCol="0">
            <a:spAutoFit/>
          </a:bodyPr>
          <a:lstStyle/>
          <a:p>
            <a:pPr algn="just">
              <a:buNone/>
            </a:pPr>
            <a:r>
              <a:rPr lang="en-US" sz="1800" b="1" dirty="0">
                <a:latin typeface="Times New Roman" panose="02020603050405020304" pitchFamily="18" charset="0"/>
                <a:cs typeface="Times New Roman" panose="02020603050405020304" pitchFamily="18" charset="0"/>
                <a:sym typeface="+mn-ea"/>
              </a:rPr>
              <a:t>Models Used in existing systems:</a:t>
            </a:r>
            <a:endParaRPr lang="en-US" sz="1800" b="1" dirty="0">
              <a:latin typeface="Times New Roman" panose="02020603050405020304" pitchFamily="18" charset="0"/>
              <a:cs typeface="Times New Roman" panose="02020603050405020304" pitchFamily="18" charset="0"/>
            </a:endParaRPr>
          </a:p>
          <a:p>
            <a:pPr algn="just">
              <a:buNone/>
            </a:pPr>
            <a:r>
              <a:rPr lang="en-US" sz="1800" dirty="0">
                <a:sym typeface="+mn-ea"/>
              </a:rPr>
              <a:t>          </a:t>
            </a:r>
            <a:endParaRPr lang="en-US" sz="1800" dirty="0"/>
          </a:p>
          <a:p>
            <a:endParaRPr lang="en-IN" dirty="0"/>
          </a:p>
        </p:txBody>
      </p:sp>
      <p:pic>
        <p:nvPicPr>
          <p:cNvPr id="8" name="Picture 7" descr="A screenshot of a graph">
            <a:extLst>
              <a:ext uri="{FF2B5EF4-FFF2-40B4-BE49-F238E27FC236}">
                <a16:creationId xmlns:a16="http://schemas.microsoft.com/office/drawing/2014/main" id="{860D3475-3386-EF2C-89BF-4705C80A4A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4704" y="3195748"/>
            <a:ext cx="8354591" cy="1924319"/>
          </a:xfrm>
          <a:prstGeom prst="rect">
            <a:avLst/>
          </a:prstGeom>
        </p:spPr>
      </p:pic>
      <p:sp>
        <p:nvSpPr>
          <p:cNvPr id="9" name="TextBox 8">
            <a:extLst>
              <a:ext uri="{FF2B5EF4-FFF2-40B4-BE49-F238E27FC236}">
                <a16:creationId xmlns:a16="http://schemas.microsoft.com/office/drawing/2014/main" id="{55807126-8CD4-2B93-92E1-FAD0D66E37EE}"/>
              </a:ext>
            </a:extLst>
          </p:cNvPr>
          <p:cNvSpPr txBox="1"/>
          <p:nvPr/>
        </p:nvSpPr>
        <p:spPr>
          <a:xfrm>
            <a:off x="305561" y="5120067"/>
            <a:ext cx="4266439" cy="1754326"/>
          </a:xfrm>
          <a:prstGeom prst="rect">
            <a:avLst/>
          </a:prstGeom>
          <a:noFill/>
        </p:spPr>
        <p:txBody>
          <a:bodyPr wrap="square" rtlCol="0">
            <a:spAutoFit/>
          </a:bodyPr>
          <a:lstStyle/>
          <a:p>
            <a:pPr algn="just">
              <a:buNone/>
            </a:pPr>
            <a:r>
              <a:rPr lang="en-US" sz="1800" b="1" dirty="0">
                <a:latin typeface="Times New Roman" panose="02020603050405020304" pitchFamily="18" charset="0"/>
                <a:cs typeface="Times New Roman" panose="02020603050405020304" pitchFamily="18" charset="0"/>
                <a:sym typeface="+mn-ea"/>
              </a:rPr>
              <a:t>Drawbacks of DA4PT:</a:t>
            </a:r>
            <a:endParaRPr lang="en-US" sz="1800" b="1" dirty="0">
              <a:latin typeface="Times New Roman" panose="02020603050405020304" pitchFamily="18" charset="0"/>
              <a:cs typeface="Times New Roman" panose="02020603050405020304" pitchFamily="18" charset="0"/>
            </a:endParaRPr>
          </a:p>
          <a:p>
            <a:pPr algn="just">
              <a:buNone/>
            </a:pPr>
            <a:r>
              <a:rPr lang="en-US" sz="1800" dirty="0">
                <a:latin typeface="Times New Roman" panose="02020603050405020304" pitchFamily="18" charset="0"/>
                <a:cs typeface="Times New Roman" panose="02020603050405020304" pitchFamily="18" charset="0"/>
                <a:sym typeface="+mn-ea"/>
              </a:rPr>
              <a:t>1.Limited to small data  </a:t>
            </a:r>
            <a:endParaRPr lang="en-US" sz="1800" dirty="0">
              <a:latin typeface="Times New Roman" panose="02020603050405020304" pitchFamily="18" charset="0"/>
              <a:cs typeface="Times New Roman" panose="02020603050405020304" pitchFamily="18" charset="0"/>
            </a:endParaRPr>
          </a:p>
          <a:p>
            <a:pPr algn="just">
              <a:buNone/>
            </a:pPr>
            <a:r>
              <a:rPr lang="en-US" sz="1800" dirty="0">
                <a:sym typeface="+mn-ea"/>
              </a:rPr>
              <a:t>2. </a:t>
            </a:r>
            <a:r>
              <a:rPr lang="en-US" sz="1800" dirty="0">
                <a:latin typeface="Times New Roman" panose="02020603050405020304" pitchFamily="18" charset="0"/>
                <a:cs typeface="Times New Roman" panose="02020603050405020304" pitchFamily="18" charset="0"/>
                <a:sym typeface="+mn-ea"/>
              </a:rPr>
              <a:t>Less accuracy ,</a:t>
            </a:r>
            <a:endParaRPr lang="en-US" sz="1800" dirty="0">
              <a:latin typeface="Times New Roman" panose="02020603050405020304" pitchFamily="18" charset="0"/>
              <a:cs typeface="Times New Roman" panose="02020603050405020304" pitchFamily="18" charset="0"/>
            </a:endParaRPr>
          </a:p>
          <a:p>
            <a:pPr algn="just">
              <a:buNone/>
            </a:pPr>
            <a:r>
              <a:rPr lang="en-US" sz="1800" dirty="0">
                <a:latin typeface="Times New Roman" panose="02020603050405020304" pitchFamily="18" charset="0"/>
                <a:cs typeface="Times New Roman" panose="02020603050405020304" pitchFamily="18" charset="0"/>
                <a:sym typeface="+mn-ea"/>
              </a:rPr>
              <a:t>3.Not adaptable                     </a:t>
            </a:r>
            <a:endParaRPr lang="en-US" sz="1800" dirty="0">
              <a:latin typeface="Times New Roman" panose="02020603050405020304" pitchFamily="18" charset="0"/>
              <a:cs typeface="Times New Roman" panose="02020603050405020304" pitchFamily="18" charset="0"/>
            </a:endParaRPr>
          </a:p>
          <a:p>
            <a:pPr algn="just">
              <a:buNone/>
            </a:pPr>
            <a:r>
              <a:rPr lang="en-US" sz="1800" dirty="0">
                <a:latin typeface="Times New Roman" panose="02020603050405020304" pitchFamily="18" charset="0"/>
                <a:cs typeface="Times New Roman" panose="02020603050405020304" pitchFamily="18" charset="0"/>
                <a:sym typeface="+mn-ea"/>
              </a:rPr>
              <a:t>4. Less suitable for long term prediction</a:t>
            </a:r>
            <a:endParaRPr lang="en-US" sz="1800" dirty="0">
              <a:latin typeface="Times New Roman" panose="02020603050405020304" pitchFamily="18" charset="0"/>
              <a:cs typeface="Times New Roman" panose="02020603050405020304" pitchFamily="18" charset="0"/>
            </a:endParaRPr>
          </a:p>
          <a:p>
            <a:endParaRPr lang="en-IN" dirty="0"/>
          </a:p>
        </p:txBody>
      </p:sp>
      <p:sp>
        <p:nvSpPr>
          <p:cNvPr id="10" name="TextBox 9">
            <a:extLst>
              <a:ext uri="{FF2B5EF4-FFF2-40B4-BE49-F238E27FC236}">
                <a16:creationId xmlns:a16="http://schemas.microsoft.com/office/drawing/2014/main" id="{6AEC4B75-743A-4204-EA9A-4F78CDDE4EBF}"/>
              </a:ext>
            </a:extLst>
          </p:cNvPr>
          <p:cNvSpPr txBox="1"/>
          <p:nvPr/>
        </p:nvSpPr>
        <p:spPr>
          <a:xfrm>
            <a:off x="311413" y="2791816"/>
            <a:ext cx="4419600" cy="646331"/>
          </a:xfrm>
          <a:prstGeom prst="rect">
            <a:avLst/>
          </a:prstGeom>
          <a:noFill/>
        </p:spPr>
        <p:txBody>
          <a:bodyPr wrap="square" rtlCol="0">
            <a:spAutoFit/>
          </a:bodyPr>
          <a:lstStyle/>
          <a:p>
            <a:pPr algn="just"/>
            <a:r>
              <a:rPr lang="en-US" sz="1800" b="1" dirty="0">
                <a:latin typeface="Times New Roman" panose="02020603050405020304" pitchFamily="18" charset="0"/>
                <a:cs typeface="Times New Roman" panose="02020603050405020304" pitchFamily="18" charset="0"/>
                <a:sym typeface="+mn-ea"/>
              </a:rPr>
              <a:t>Models Used in existing systems:</a:t>
            </a:r>
            <a:endParaRPr lang="en-US" sz="1800" b="1"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3576879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4A87F89-1CCD-6334-1413-442C42BEB998}"/>
            </a:ext>
          </a:extLst>
        </p:cNvPr>
        <p:cNvGrpSpPr/>
        <p:nvPr/>
      </p:nvGrpSpPr>
      <p:grpSpPr>
        <a:xfrm>
          <a:off x="0" y="0"/>
          <a:ext cx="0" cy="0"/>
          <a:chOff x="0" y="0"/>
          <a:chExt cx="0" cy="0"/>
        </a:xfrm>
      </p:grpSpPr>
      <p:pic>
        <p:nvPicPr>
          <p:cNvPr id="5" name="object 5">
            <a:extLst>
              <a:ext uri="{FF2B5EF4-FFF2-40B4-BE49-F238E27FC236}">
                <a16:creationId xmlns:a16="http://schemas.microsoft.com/office/drawing/2014/main" id="{CD5F11A8-311F-4B85-DF8E-231696F87AA4}"/>
              </a:ext>
            </a:extLst>
          </p:cNvPr>
          <p:cNvPicPr/>
          <p:nvPr/>
        </p:nvPicPr>
        <p:blipFill>
          <a:blip r:embed="rId2" cstate="print"/>
          <a:stretch>
            <a:fillRect/>
          </a:stretch>
        </p:blipFill>
        <p:spPr>
          <a:xfrm>
            <a:off x="276065" y="914400"/>
            <a:ext cx="8534400" cy="39750"/>
          </a:xfrm>
          <a:prstGeom prst="rect">
            <a:avLst/>
          </a:prstGeom>
        </p:spPr>
      </p:pic>
      <p:pic>
        <p:nvPicPr>
          <p:cNvPr id="15" name="Picture 14" descr="LOGO">
            <a:extLst>
              <a:ext uri="{FF2B5EF4-FFF2-40B4-BE49-F238E27FC236}">
                <a16:creationId xmlns:a16="http://schemas.microsoft.com/office/drawing/2014/main" id="{995544A9-2624-D454-4D66-1903D6D93E3A}"/>
              </a:ext>
            </a:extLst>
          </p:cNvPr>
          <p:cNvPicPr>
            <a:picLocks noChangeAspect="1"/>
          </p:cNvPicPr>
          <p:nvPr/>
        </p:nvPicPr>
        <p:blipFill>
          <a:blip r:embed="rId3"/>
          <a:srcRect/>
          <a:stretch>
            <a:fillRect/>
          </a:stretch>
        </p:blipFill>
        <p:spPr bwMode="auto">
          <a:xfrm>
            <a:off x="8077200" y="132704"/>
            <a:ext cx="855345" cy="626110"/>
          </a:xfrm>
          <a:prstGeom prst="rect">
            <a:avLst/>
          </a:prstGeom>
          <a:noFill/>
        </p:spPr>
      </p:pic>
      <p:grpSp>
        <p:nvGrpSpPr>
          <p:cNvPr id="17" name="Group 16">
            <a:extLst>
              <a:ext uri="{FF2B5EF4-FFF2-40B4-BE49-F238E27FC236}">
                <a16:creationId xmlns:a16="http://schemas.microsoft.com/office/drawing/2014/main" id="{B95CEB34-F325-C8DB-3D5A-109E2440915E}"/>
              </a:ext>
            </a:extLst>
          </p:cNvPr>
          <p:cNvGrpSpPr/>
          <p:nvPr/>
        </p:nvGrpSpPr>
        <p:grpSpPr>
          <a:xfrm>
            <a:off x="7047271" y="6324600"/>
            <a:ext cx="1944329" cy="381000"/>
            <a:chOff x="2590800" y="5257800"/>
            <a:chExt cx="1944329" cy="381000"/>
          </a:xfrm>
        </p:grpSpPr>
        <p:sp>
          <p:nvSpPr>
            <p:cNvPr id="18" name="TextBox 17">
              <a:extLst>
                <a:ext uri="{FF2B5EF4-FFF2-40B4-BE49-F238E27FC236}">
                  <a16:creationId xmlns:a16="http://schemas.microsoft.com/office/drawing/2014/main" id="{F2BE5AD5-21F4-3D8C-DB7C-2220A626B955}"/>
                </a:ext>
              </a:extLst>
            </p:cNvPr>
            <p:cNvSpPr txBox="1"/>
            <p:nvPr/>
          </p:nvSpPr>
          <p:spPr>
            <a:xfrm>
              <a:off x="2590800" y="5257800"/>
              <a:ext cx="381000" cy="369332"/>
            </a:xfrm>
            <a:prstGeom prst="rect">
              <a:avLst/>
            </a:prstGeom>
            <a:solidFill>
              <a:srgbClr val="9900CC"/>
            </a:solidFill>
          </p:spPr>
          <p:txBody>
            <a:bodyPr wrap="square" rtlCol="0">
              <a:spAutoFit/>
            </a:bodyPr>
            <a:lstStyle/>
            <a:p>
              <a:pPr algn="ctr"/>
              <a:r>
                <a:rPr lang="en-IN" b="1" dirty="0">
                  <a:solidFill>
                    <a:schemeClr val="bg1"/>
                  </a:solidFill>
                </a:rPr>
                <a:t>D</a:t>
              </a:r>
            </a:p>
          </p:txBody>
        </p:sp>
        <p:sp>
          <p:nvSpPr>
            <p:cNvPr id="19" name="TextBox 18">
              <a:extLst>
                <a:ext uri="{FF2B5EF4-FFF2-40B4-BE49-F238E27FC236}">
                  <a16:creationId xmlns:a16="http://schemas.microsoft.com/office/drawing/2014/main" id="{B3B6D976-C946-E5A1-BA51-C5B10C77F9C0}"/>
                </a:ext>
              </a:extLst>
            </p:cNvPr>
            <p:cNvSpPr txBox="1"/>
            <p:nvPr/>
          </p:nvSpPr>
          <p:spPr>
            <a:xfrm>
              <a:off x="3124200" y="5262405"/>
              <a:ext cx="381000" cy="369332"/>
            </a:xfrm>
            <a:prstGeom prst="rect">
              <a:avLst/>
            </a:prstGeom>
            <a:solidFill>
              <a:srgbClr val="FF9900"/>
            </a:solidFill>
          </p:spPr>
          <p:txBody>
            <a:bodyPr wrap="square" rtlCol="0">
              <a:spAutoFit/>
            </a:bodyPr>
            <a:lstStyle/>
            <a:p>
              <a:pPr algn="ctr"/>
              <a:r>
                <a:rPr lang="en-IN" b="1" dirty="0">
                  <a:solidFill>
                    <a:schemeClr val="bg1"/>
                  </a:solidFill>
                </a:rPr>
                <a:t>I</a:t>
              </a:r>
            </a:p>
          </p:txBody>
        </p:sp>
        <p:sp>
          <p:nvSpPr>
            <p:cNvPr id="20" name="TextBox 19">
              <a:extLst>
                <a:ext uri="{FF2B5EF4-FFF2-40B4-BE49-F238E27FC236}">
                  <a16:creationId xmlns:a16="http://schemas.microsoft.com/office/drawing/2014/main" id="{1AF178C5-9A3C-70B5-C666-1E42103FA430}"/>
                </a:ext>
              </a:extLst>
            </p:cNvPr>
            <p:cNvSpPr txBox="1"/>
            <p:nvPr/>
          </p:nvSpPr>
          <p:spPr>
            <a:xfrm>
              <a:off x="3657600" y="5267010"/>
              <a:ext cx="381000" cy="369332"/>
            </a:xfrm>
            <a:prstGeom prst="rect">
              <a:avLst/>
            </a:prstGeom>
            <a:solidFill>
              <a:srgbClr val="0000FF"/>
            </a:solidFill>
          </p:spPr>
          <p:txBody>
            <a:bodyPr wrap="square" rtlCol="0">
              <a:spAutoFit/>
            </a:bodyPr>
            <a:lstStyle/>
            <a:p>
              <a:pPr algn="ctr"/>
              <a:r>
                <a:rPr lang="en-IN" b="1" dirty="0">
                  <a:solidFill>
                    <a:schemeClr val="bg1"/>
                  </a:solidFill>
                </a:rPr>
                <a:t>E</a:t>
              </a:r>
            </a:p>
          </p:txBody>
        </p:sp>
        <p:sp>
          <p:nvSpPr>
            <p:cNvPr id="21" name="TextBox 20">
              <a:extLst>
                <a:ext uri="{FF2B5EF4-FFF2-40B4-BE49-F238E27FC236}">
                  <a16:creationId xmlns:a16="http://schemas.microsoft.com/office/drawing/2014/main" id="{E38FB537-C213-2736-4114-03C8B702206F}"/>
                </a:ext>
              </a:extLst>
            </p:cNvPr>
            <p:cNvSpPr txBox="1"/>
            <p:nvPr/>
          </p:nvSpPr>
          <p:spPr>
            <a:xfrm>
              <a:off x="4154129" y="5269468"/>
              <a:ext cx="381000" cy="369332"/>
            </a:xfrm>
            <a:prstGeom prst="rect">
              <a:avLst/>
            </a:prstGeom>
            <a:solidFill>
              <a:srgbClr val="009900"/>
            </a:solidFill>
          </p:spPr>
          <p:txBody>
            <a:bodyPr wrap="square" rtlCol="0">
              <a:spAutoFit/>
            </a:bodyPr>
            <a:lstStyle/>
            <a:p>
              <a:pPr algn="ctr"/>
              <a:r>
                <a:rPr lang="en-IN" b="1" dirty="0">
                  <a:solidFill>
                    <a:schemeClr val="bg1"/>
                  </a:solidFill>
                </a:rPr>
                <a:t>T</a:t>
              </a:r>
            </a:p>
          </p:txBody>
        </p:sp>
      </p:grpSp>
      <p:sp>
        <p:nvSpPr>
          <p:cNvPr id="6" name="TextBox 5">
            <a:extLst>
              <a:ext uri="{FF2B5EF4-FFF2-40B4-BE49-F238E27FC236}">
                <a16:creationId xmlns:a16="http://schemas.microsoft.com/office/drawing/2014/main" id="{1BFECF7E-E0DB-76EE-67F5-6C8652F9B53D}"/>
              </a:ext>
            </a:extLst>
          </p:cNvPr>
          <p:cNvSpPr txBox="1"/>
          <p:nvPr/>
        </p:nvSpPr>
        <p:spPr>
          <a:xfrm>
            <a:off x="276065" y="1606665"/>
            <a:ext cx="8563896" cy="5355312"/>
          </a:xfrm>
          <a:prstGeom prst="rect">
            <a:avLst/>
          </a:prstGeom>
          <a:noFill/>
        </p:spPr>
        <p:txBody>
          <a:bodyPr wrap="square" rtlCol="0">
            <a:spAutoFit/>
          </a:bodyPr>
          <a:lstStyle/>
          <a:p>
            <a:pPr marL="342900" indent="-342900" algn="just">
              <a:buFont typeface="+mj-lt"/>
              <a:buAutoNum type="arabicPeriod"/>
            </a:pPr>
            <a:r>
              <a:rPr lang="en-US" sz="1800" b="1" dirty="0">
                <a:latin typeface="Times New Roman" panose="02020603050405020304" pitchFamily="18" charset="0"/>
                <a:cs typeface="Times New Roman" panose="02020603050405020304" pitchFamily="18" charset="0"/>
              </a:rPr>
              <a:t>Data Collection:</a:t>
            </a:r>
            <a:r>
              <a:rPr lang="en-US" sz="1800" dirty="0">
                <a:latin typeface="Times New Roman" panose="02020603050405020304" pitchFamily="18" charset="0"/>
                <a:cs typeface="Times New Roman" panose="02020603050405020304" pitchFamily="18" charset="0"/>
              </a:rPr>
              <a:t> Gather data on transportation modes, routes, volumes, and patterns from </a:t>
            </a:r>
            <a:r>
              <a:rPr lang="en-US" sz="1800" dirty="0" err="1">
                <a:latin typeface="Times New Roman" panose="02020603050405020304" pitchFamily="18" charset="0"/>
                <a:cs typeface="Times New Roman" panose="02020603050405020304" pitchFamily="18" charset="0"/>
              </a:rPr>
              <a:t>mobiticket</a:t>
            </a:r>
            <a:r>
              <a:rPr lang="en-US" sz="1800" dirty="0">
                <a:latin typeface="Times New Roman" panose="02020603050405020304" pitchFamily="18" charset="0"/>
                <a:cs typeface="Times New Roman" panose="02020603050405020304" pitchFamily="18" charset="0"/>
              </a:rPr>
              <a:t> App.</a:t>
            </a:r>
          </a:p>
          <a:p>
            <a:pPr marL="342900" indent="-342900" algn="just">
              <a:buFont typeface="+mj-lt"/>
              <a:buAutoNum type="arabicPeriod"/>
            </a:pPr>
            <a:r>
              <a:rPr lang="en-US" sz="1800" b="1" dirty="0">
                <a:latin typeface="Times New Roman" panose="02020603050405020304" pitchFamily="18" charset="0"/>
                <a:cs typeface="Times New Roman" panose="02020603050405020304" pitchFamily="18" charset="0"/>
              </a:rPr>
              <a:t>Data Analysis</a:t>
            </a:r>
            <a:r>
              <a:rPr lang="en-US" sz="1800" dirty="0">
                <a:latin typeface="Times New Roman" panose="02020603050405020304" pitchFamily="18" charset="0"/>
                <a:cs typeface="Times New Roman" panose="02020603050405020304" pitchFamily="18" charset="0"/>
              </a:rPr>
              <a:t>: Examine data to identify trends, patterns, and correlations.</a:t>
            </a:r>
          </a:p>
          <a:p>
            <a:pPr marL="342900" indent="-342900" algn="just">
              <a:buFont typeface="+mj-lt"/>
              <a:buAutoNum type="arabicPeriod"/>
            </a:pPr>
            <a:r>
              <a:rPr lang="en-US" sz="1800" b="1" dirty="0">
                <a:latin typeface="Times New Roman" panose="02020603050405020304" pitchFamily="18" charset="0"/>
                <a:cs typeface="Times New Roman" panose="02020603050405020304" pitchFamily="18" charset="0"/>
              </a:rPr>
              <a:t>Route Choice Modeling: </a:t>
            </a:r>
            <a:r>
              <a:rPr lang="en-US" sz="1800" dirty="0">
                <a:latin typeface="Times New Roman" panose="02020603050405020304" pitchFamily="18" charset="0"/>
                <a:cs typeface="Times New Roman" panose="02020603050405020304" pitchFamily="18" charset="0"/>
              </a:rPr>
              <a:t>Study how people choose routes.</a:t>
            </a:r>
          </a:p>
          <a:p>
            <a:pPr marL="342900" indent="-342900" algn="just">
              <a:buFont typeface="+mj-lt"/>
              <a:buAutoNum type="arabicPeriod"/>
            </a:pPr>
            <a:r>
              <a:rPr lang="en-US" sz="1800" b="1" dirty="0">
                <a:latin typeface="Times New Roman" panose="02020603050405020304" pitchFamily="18" charset="0"/>
                <a:cs typeface="Times New Roman" panose="02020603050405020304" pitchFamily="18" charset="0"/>
              </a:rPr>
              <a:t>Market Segmentation</a:t>
            </a:r>
            <a:r>
              <a:rPr lang="en-US" sz="1800" dirty="0">
                <a:latin typeface="Times New Roman" panose="02020603050405020304" pitchFamily="18" charset="0"/>
                <a:cs typeface="Times New Roman" panose="02020603050405020304" pitchFamily="18" charset="0"/>
              </a:rPr>
              <a:t>: Divide the market into segments based on demographics, travel behavior, and other factors.</a:t>
            </a:r>
          </a:p>
          <a:p>
            <a:pPr marL="342900" indent="-342900" algn="just">
              <a:buFont typeface="+mj-lt"/>
              <a:buAutoNum type="arabicPeriod"/>
            </a:pPr>
            <a:r>
              <a:rPr lang="en-US" sz="1800" b="1" dirty="0">
                <a:latin typeface="Times New Roman" panose="02020603050405020304" pitchFamily="18" charset="0"/>
                <a:cs typeface="Times New Roman" panose="02020603050405020304" pitchFamily="18" charset="0"/>
              </a:rPr>
              <a:t>Travel Demand Modeling:</a:t>
            </a:r>
            <a:r>
              <a:rPr lang="en-US" sz="1800" dirty="0">
                <a:latin typeface="Times New Roman" panose="02020603050405020304" pitchFamily="18" charset="0"/>
                <a:cs typeface="Times New Roman" panose="02020603050405020304" pitchFamily="18" charset="0"/>
              </a:rPr>
              <a:t> Use models to forecast travel demand based on factors like population growth, land use, and transportation infrastructure.</a:t>
            </a:r>
          </a:p>
          <a:p>
            <a:pPr marL="342900" indent="-342900" algn="just">
              <a:buFont typeface="+mj-lt"/>
              <a:buAutoNum type="arabicPeriod"/>
            </a:pPr>
            <a:r>
              <a:rPr lang="en-US" sz="1800" b="1" dirty="0">
                <a:latin typeface="Times New Roman" panose="02020603050405020304" pitchFamily="18" charset="0"/>
                <a:cs typeface="Times New Roman" panose="02020603050405020304" pitchFamily="18" charset="0"/>
              </a:rPr>
              <a:t>Validation:</a:t>
            </a:r>
            <a:r>
              <a:rPr lang="en-US" sz="1800" dirty="0">
                <a:latin typeface="Times New Roman" panose="02020603050405020304" pitchFamily="18" charset="0"/>
                <a:cs typeface="Times New Roman" panose="02020603050405020304" pitchFamily="18" charset="0"/>
              </a:rPr>
              <a:t> Model cross-validation is a technique used to evaluate the performance of a machine learning model by training and testing it on multiple subsets of the data. This helps to ensure that the model is not overfitting or underfitting and provides a more accurate estimate of its performance.</a:t>
            </a:r>
          </a:p>
          <a:p>
            <a:pPr marL="0" indent="0" algn="just">
              <a:buNone/>
            </a:pPr>
            <a:r>
              <a:rPr lang="en-US" sz="1800" dirty="0">
                <a:latin typeface="Times New Roman" panose="02020603050405020304" pitchFamily="18" charset="0"/>
                <a:cs typeface="Times New Roman" panose="02020603050405020304" pitchFamily="18" charset="0"/>
              </a:rPr>
              <a:t>By conducting a system study for transportation demand prediction, planners and policymakers can make informed decisions about infrastructure investments, transportation services, and policies to manage demand and reduce congestion</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 </a:t>
            </a:r>
          </a:p>
        </p:txBody>
      </p:sp>
      <p:sp>
        <p:nvSpPr>
          <p:cNvPr id="7" name="TextBox 6">
            <a:extLst>
              <a:ext uri="{FF2B5EF4-FFF2-40B4-BE49-F238E27FC236}">
                <a16:creationId xmlns:a16="http://schemas.microsoft.com/office/drawing/2014/main" id="{F6847552-F5FB-F00B-1E5C-6B1E1D7B380F}"/>
              </a:ext>
            </a:extLst>
          </p:cNvPr>
          <p:cNvSpPr txBox="1"/>
          <p:nvPr/>
        </p:nvSpPr>
        <p:spPr>
          <a:xfrm>
            <a:off x="320309" y="4408365"/>
            <a:ext cx="3809240" cy="923330"/>
          </a:xfrm>
          <a:prstGeom prst="rect">
            <a:avLst/>
          </a:prstGeom>
          <a:noFill/>
        </p:spPr>
        <p:txBody>
          <a:bodyPr wrap="square" rtlCol="0">
            <a:spAutoFit/>
          </a:bodyPr>
          <a:lstStyle/>
          <a:p>
            <a:pPr algn="just">
              <a:buNone/>
            </a:pPr>
            <a:endParaRPr lang="en-US" sz="1800" b="1" dirty="0">
              <a:latin typeface="Times New Roman" panose="02020603050405020304" pitchFamily="18" charset="0"/>
              <a:cs typeface="Times New Roman" panose="02020603050405020304" pitchFamily="18" charset="0"/>
            </a:endParaRPr>
          </a:p>
          <a:p>
            <a:pPr algn="just">
              <a:buNone/>
            </a:pPr>
            <a:r>
              <a:rPr lang="en-US" sz="1800" dirty="0">
                <a:sym typeface="+mn-ea"/>
              </a:rPr>
              <a:t>          </a:t>
            </a:r>
            <a:endParaRPr lang="en-US" sz="1800" dirty="0"/>
          </a:p>
          <a:p>
            <a:endParaRPr lang="en-IN" dirty="0"/>
          </a:p>
        </p:txBody>
      </p:sp>
      <p:sp>
        <p:nvSpPr>
          <p:cNvPr id="12" name="TextBox 11">
            <a:extLst>
              <a:ext uri="{FF2B5EF4-FFF2-40B4-BE49-F238E27FC236}">
                <a16:creationId xmlns:a16="http://schemas.microsoft.com/office/drawing/2014/main" id="{BA15B509-A892-A13C-DA03-854DF5F7F4C0}"/>
              </a:ext>
            </a:extLst>
          </p:cNvPr>
          <p:cNvSpPr txBox="1"/>
          <p:nvPr/>
        </p:nvSpPr>
        <p:spPr>
          <a:xfrm>
            <a:off x="276065" y="1109736"/>
            <a:ext cx="2556475" cy="400110"/>
          </a:xfrm>
          <a:prstGeom prst="rect">
            <a:avLst/>
          </a:prstGeom>
          <a:noFill/>
        </p:spPr>
        <p:txBody>
          <a:bodyPr wrap="square" rtlCol="0">
            <a:spAutoFit/>
          </a:bodyPr>
          <a:lstStyle/>
          <a:p>
            <a:r>
              <a:rPr lang="en-US" sz="2000" b="1" dirty="0"/>
              <a:t>SYSTEM STUDY</a:t>
            </a:r>
            <a:endParaRPr lang="en-IN" sz="2000" b="1" dirty="0"/>
          </a:p>
        </p:txBody>
      </p:sp>
    </p:spTree>
    <p:extLst>
      <p:ext uri="{BB962C8B-B14F-4D97-AF65-F5344CB8AC3E}">
        <p14:creationId xmlns:p14="http://schemas.microsoft.com/office/powerpoint/2010/main" val="10212307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3E2EB2D-417A-25C3-DE66-9063589C7E23}"/>
            </a:ext>
          </a:extLst>
        </p:cNvPr>
        <p:cNvGrpSpPr/>
        <p:nvPr/>
      </p:nvGrpSpPr>
      <p:grpSpPr>
        <a:xfrm>
          <a:off x="0" y="0"/>
          <a:ext cx="0" cy="0"/>
          <a:chOff x="0" y="0"/>
          <a:chExt cx="0" cy="0"/>
        </a:xfrm>
      </p:grpSpPr>
      <p:pic>
        <p:nvPicPr>
          <p:cNvPr id="5" name="object 5">
            <a:extLst>
              <a:ext uri="{FF2B5EF4-FFF2-40B4-BE49-F238E27FC236}">
                <a16:creationId xmlns:a16="http://schemas.microsoft.com/office/drawing/2014/main" id="{6B4635BA-A16D-9537-6378-145E3DB66773}"/>
              </a:ext>
            </a:extLst>
          </p:cNvPr>
          <p:cNvPicPr/>
          <p:nvPr/>
        </p:nvPicPr>
        <p:blipFill>
          <a:blip r:embed="rId2" cstate="print"/>
          <a:stretch>
            <a:fillRect/>
          </a:stretch>
        </p:blipFill>
        <p:spPr>
          <a:xfrm>
            <a:off x="305561" y="1006712"/>
            <a:ext cx="8534400" cy="39750"/>
          </a:xfrm>
          <a:prstGeom prst="rect">
            <a:avLst/>
          </a:prstGeom>
        </p:spPr>
      </p:pic>
      <p:pic>
        <p:nvPicPr>
          <p:cNvPr id="15" name="Picture 14" descr="LOGO">
            <a:extLst>
              <a:ext uri="{FF2B5EF4-FFF2-40B4-BE49-F238E27FC236}">
                <a16:creationId xmlns:a16="http://schemas.microsoft.com/office/drawing/2014/main" id="{179BFBD0-A764-EE1C-A4DF-E1ECBAF3F440}"/>
              </a:ext>
            </a:extLst>
          </p:cNvPr>
          <p:cNvPicPr>
            <a:picLocks noChangeAspect="1"/>
          </p:cNvPicPr>
          <p:nvPr/>
        </p:nvPicPr>
        <p:blipFill>
          <a:blip r:embed="rId3"/>
          <a:srcRect/>
          <a:stretch>
            <a:fillRect/>
          </a:stretch>
        </p:blipFill>
        <p:spPr bwMode="auto">
          <a:xfrm>
            <a:off x="8077200" y="208252"/>
            <a:ext cx="855345" cy="626110"/>
          </a:xfrm>
          <a:prstGeom prst="rect">
            <a:avLst/>
          </a:prstGeom>
          <a:noFill/>
        </p:spPr>
      </p:pic>
      <p:grpSp>
        <p:nvGrpSpPr>
          <p:cNvPr id="17" name="Group 16">
            <a:extLst>
              <a:ext uri="{FF2B5EF4-FFF2-40B4-BE49-F238E27FC236}">
                <a16:creationId xmlns:a16="http://schemas.microsoft.com/office/drawing/2014/main" id="{342F2C4E-AD34-034F-4102-CAD902655088}"/>
              </a:ext>
            </a:extLst>
          </p:cNvPr>
          <p:cNvGrpSpPr/>
          <p:nvPr/>
        </p:nvGrpSpPr>
        <p:grpSpPr>
          <a:xfrm>
            <a:off x="7047271" y="6400148"/>
            <a:ext cx="1944329" cy="381000"/>
            <a:chOff x="2590800" y="5257800"/>
            <a:chExt cx="1944329" cy="381000"/>
          </a:xfrm>
        </p:grpSpPr>
        <p:sp>
          <p:nvSpPr>
            <p:cNvPr id="18" name="TextBox 17">
              <a:extLst>
                <a:ext uri="{FF2B5EF4-FFF2-40B4-BE49-F238E27FC236}">
                  <a16:creationId xmlns:a16="http://schemas.microsoft.com/office/drawing/2014/main" id="{052119C5-F2D0-EE40-E363-719404C8D8A1}"/>
                </a:ext>
              </a:extLst>
            </p:cNvPr>
            <p:cNvSpPr txBox="1"/>
            <p:nvPr/>
          </p:nvSpPr>
          <p:spPr>
            <a:xfrm>
              <a:off x="2590800" y="5257800"/>
              <a:ext cx="381000" cy="369332"/>
            </a:xfrm>
            <a:prstGeom prst="rect">
              <a:avLst/>
            </a:prstGeom>
            <a:solidFill>
              <a:srgbClr val="9900CC"/>
            </a:solidFill>
          </p:spPr>
          <p:txBody>
            <a:bodyPr wrap="square" rtlCol="0">
              <a:spAutoFit/>
            </a:bodyPr>
            <a:lstStyle/>
            <a:p>
              <a:pPr algn="ctr"/>
              <a:r>
                <a:rPr lang="en-IN" b="1" dirty="0">
                  <a:solidFill>
                    <a:schemeClr val="bg1"/>
                  </a:solidFill>
                </a:rPr>
                <a:t>D</a:t>
              </a:r>
            </a:p>
          </p:txBody>
        </p:sp>
        <p:sp>
          <p:nvSpPr>
            <p:cNvPr id="19" name="TextBox 18">
              <a:extLst>
                <a:ext uri="{FF2B5EF4-FFF2-40B4-BE49-F238E27FC236}">
                  <a16:creationId xmlns:a16="http://schemas.microsoft.com/office/drawing/2014/main" id="{94BCCEB6-CC46-5F74-EDF8-698E8AB10A37}"/>
                </a:ext>
              </a:extLst>
            </p:cNvPr>
            <p:cNvSpPr txBox="1"/>
            <p:nvPr/>
          </p:nvSpPr>
          <p:spPr>
            <a:xfrm>
              <a:off x="3124200" y="5262405"/>
              <a:ext cx="381000" cy="369332"/>
            </a:xfrm>
            <a:prstGeom prst="rect">
              <a:avLst/>
            </a:prstGeom>
            <a:solidFill>
              <a:srgbClr val="FF9900"/>
            </a:solidFill>
          </p:spPr>
          <p:txBody>
            <a:bodyPr wrap="square" rtlCol="0">
              <a:spAutoFit/>
            </a:bodyPr>
            <a:lstStyle/>
            <a:p>
              <a:pPr algn="ctr"/>
              <a:r>
                <a:rPr lang="en-IN" b="1" dirty="0">
                  <a:solidFill>
                    <a:schemeClr val="bg1"/>
                  </a:solidFill>
                </a:rPr>
                <a:t>I</a:t>
              </a:r>
            </a:p>
          </p:txBody>
        </p:sp>
        <p:sp>
          <p:nvSpPr>
            <p:cNvPr id="20" name="TextBox 19">
              <a:extLst>
                <a:ext uri="{FF2B5EF4-FFF2-40B4-BE49-F238E27FC236}">
                  <a16:creationId xmlns:a16="http://schemas.microsoft.com/office/drawing/2014/main" id="{42004256-149A-CAA1-0BA4-6A28DDFD469B}"/>
                </a:ext>
              </a:extLst>
            </p:cNvPr>
            <p:cNvSpPr txBox="1"/>
            <p:nvPr/>
          </p:nvSpPr>
          <p:spPr>
            <a:xfrm>
              <a:off x="3657600" y="5267010"/>
              <a:ext cx="381000" cy="369332"/>
            </a:xfrm>
            <a:prstGeom prst="rect">
              <a:avLst/>
            </a:prstGeom>
            <a:solidFill>
              <a:srgbClr val="0000FF"/>
            </a:solidFill>
          </p:spPr>
          <p:txBody>
            <a:bodyPr wrap="square" rtlCol="0">
              <a:spAutoFit/>
            </a:bodyPr>
            <a:lstStyle/>
            <a:p>
              <a:pPr algn="ctr"/>
              <a:r>
                <a:rPr lang="en-IN" b="1" dirty="0">
                  <a:solidFill>
                    <a:schemeClr val="bg1"/>
                  </a:solidFill>
                </a:rPr>
                <a:t>E</a:t>
              </a:r>
            </a:p>
          </p:txBody>
        </p:sp>
        <p:sp>
          <p:nvSpPr>
            <p:cNvPr id="21" name="TextBox 20">
              <a:extLst>
                <a:ext uri="{FF2B5EF4-FFF2-40B4-BE49-F238E27FC236}">
                  <a16:creationId xmlns:a16="http://schemas.microsoft.com/office/drawing/2014/main" id="{EDCB3F5F-C596-2EBA-2AC7-B6CAAB6CFF87}"/>
                </a:ext>
              </a:extLst>
            </p:cNvPr>
            <p:cNvSpPr txBox="1"/>
            <p:nvPr/>
          </p:nvSpPr>
          <p:spPr>
            <a:xfrm>
              <a:off x="4154129" y="5269468"/>
              <a:ext cx="381000" cy="369332"/>
            </a:xfrm>
            <a:prstGeom prst="rect">
              <a:avLst/>
            </a:prstGeom>
            <a:solidFill>
              <a:srgbClr val="009900"/>
            </a:solidFill>
          </p:spPr>
          <p:txBody>
            <a:bodyPr wrap="square" rtlCol="0">
              <a:spAutoFit/>
            </a:bodyPr>
            <a:lstStyle/>
            <a:p>
              <a:pPr algn="ctr"/>
              <a:r>
                <a:rPr lang="en-IN" b="1" dirty="0">
                  <a:solidFill>
                    <a:schemeClr val="bg1"/>
                  </a:solidFill>
                </a:rPr>
                <a:t>T</a:t>
              </a:r>
            </a:p>
          </p:txBody>
        </p:sp>
      </p:grpSp>
      <p:sp>
        <p:nvSpPr>
          <p:cNvPr id="4" name="TextBox 3">
            <a:extLst>
              <a:ext uri="{FF2B5EF4-FFF2-40B4-BE49-F238E27FC236}">
                <a16:creationId xmlns:a16="http://schemas.microsoft.com/office/drawing/2014/main" id="{6BE908C6-E8F9-FE31-4A2C-AEE7DF75739B}"/>
              </a:ext>
            </a:extLst>
          </p:cNvPr>
          <p:cNvSpPr txBox="1"/>
          <p:nvPr/>
        </p:nvSpPr>
        <p:spPr>
          <a:xfrm>
            <a:off x="179779" y="1046462"/>
            <a:ext cx="3675938"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METHODOLOGY</a:t>
            </a:r>
            <a:endParaRPr lang="en-IN" sz="20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0F7C353A-D4B6-6EAB-0CBF-8EAA0C3622EA}"/>
              </a:ext>
            </a:extLst>
          </p:cNvPr>
          <p:cNvSpPr txBox="1"/>
          <p:nvPr/>
        </p:nvSpPr>
        <p:spPr>
          <a:xfrm>
            <a:off x="-533400" y="2859613"/>
            <a:ext cx="3809240" cy="646331"/>
          </a:xfrm>
          <a:prstGeom prst="rect">
            <a:avLst/>
          </a:prstGeom>
          <a:noFill/>
        </p:spPr>
        <p:txBody>
          <a:bodyPr wrap="square" rtlCol="0">
            <a:spAutoFit/>
          </a:bodyPr>
          <a:lstStyle/>
          <a:p>
            <a:pPr algn="just">
              <a:buNone/>
            </a:pPr>
            <a:endParaRPr lang="en-US" sz="1800" dirty="0"/>
          </a:p>
          <a:p>
            <a:endParaRPr lang="en-IN" dirty="0"/>
          </a:p>
        </p:txBody>
      </p:sp>
      <p:sp>
        <p:nvSpPr>
          <p:cNvPr id="9" name="TextBox 8">
            <a:extLst>
              <a:ext uri="{FF2B5EF4-FFF2-40B4-BE49-F238E27FC236}">
                <a16:creationId xmlns:a16="http://schemas.microsoft.com/office/drawing/2014/main" id="{5CB7C565-B74C-A669-AB9F-8FDF45D1659B}"/>
              </a:ext>
            </a:extLst>
          </p:cNvPr>
          <p:cNvSpPr txBox="1"/>
          <p:nvPr/>
        </p:nvSpPr>
        <p:spPr>
          <a:xfrm>
            <a:off x="0" y="3059668"/>
            <a:ext cx="4266439" cy="369332"/>
          </a:xfrm>
          <a:prstGeom prst="rect">
            <a:avLst/>
          </a:prstGeom>
          <a:noFill/>
        </p:spPr>
        <p:txBody>
          <a:bodyPr wrap="square" rtlCol="0">
            <a:spAutoFit/>
          </a:bodyPr>
          <a:lstStyle/>
          <a:p>
            <a:endParaRPr lang="en-IN" dirty="0"/>
          </a:p>
        </p:txBody>
      </p:sp>
      <p:sp>
        <p:nvSpPr>
          <p:cNvPr id="10" name="TextBox 9">
            <a:extLst>
              <a:ext uri="{FF2B5EF4-FFF2-40B4-BE49-F238E27FC236}">
                <a16:creationId xmlns:a16="http://schemas.microsoft.com/office/drawing/2014/main" id="{78EF81B5-9E20-6801-C1DE-9858DE387B93}"/>
              </a:ext>
            </a:extLst>
          </p:cNvPr>
          <p:cNvSpPr txBox="1"/>
          <p:nvPr/>
        </p:nvSpPr>
        <p:spPr>
          <a:xfrm>
            <a:off x="179779" y="1371600"/>
            <a:ext cx="8583221" cy="4801314"/>
          </a:xfrm>
          <a:prstGeom prst="rect">
            <a:avLst/>
          </a:prstGeom>
          <a:noFill/>
        </p:spPr>
        <p:txBody>
          <a:bodyPr wrap="square" rtlCol="0">
            <a:spAutoFit/>
          </a:bodyPr>
          <a:lstStyle/>
          <a:p>
            <a:pPr lvl="0"/>
            <a:r>
              <a:rPr lang="en-IN" sz="1800" b="1" dirty="0">
                <a:latin typeface="Times New Roman" panose="02020603050405020304" pitchFamily="18" charset="0"/>
                <a:cs typeface="Times New Roman" panose="02020603050405020304" pitchFamily="18" charset="0"/>
              </a:rPr>
              <a:t>1.Data Preprocessing</a:t>
            </a:r>
            <a:r>
              <a:rPr lang="en-IN" sz="1800" dirty="0">
                <a:latin typeface="Times New Roman" panose="02020603050405020304" pitchFamily="18" charset="0"/>
                <a:cs typeface="Times New Roman" panose="02020603050405020304" pitchFamily="18" charset="0"/>
              </a:rPr>
              <a:t>: Collected data from relevant sources will be cleaned and </a:t>
            </a:r>
            <a:r>
              <a:rPr lang="en-IN" sz="1800" dirty="0" err="1">
                <a:latin typeface="Times New Roman" panose="02020603050405020304" pitchFamily="18" charset="0"/>
                <a:cs typeface="Times New Roman" panose="02020603050405020304" pitchFamily="18" charset="0"/>
              </a:rPr>
              <a:t>preprocessed</a:t>
            </a:r>
            <a:r>
              <a:rPr lang="en-IN" sz="1800" dirty="0">
                <a:latin typeface="Times New Roman" panose="02020603050405020304" pitchFamily="18" charset="0"/>
                <a:cs typeface="Times New Roman" panose="02020603050405020304" pitchFamily="18" charset="0"/>
              </a:rPr>
              <a:t> to remove any inconsistencies or missing values. </a:t>
            </a:r>
            <a:r>
              <a:rPr lang="en-IN" sz="1800" b="1" dirty="0">
                <a:latin typeface="Times New Roman" panose="02020603050405020304" pitchFamily="18" charset="0"/>
                <a:cs typeface="Times New Roman" panose="02020603050405020304" pitchFamily="18" charset="0"/>
              </a:rPr>
              <a:t>Feature engineering </a:t>
            </a:r>
            <a:r>
              <a:rPr lang="en-IN" sz="1800" dirty="0">
                <a:latin typeface="Times New Roman" panose="02020603050405020304" pitchFamily="18" charset="0"/>
                <a:cs typeface="Times New Roman" panose="02020603050405020304" pitchFamily="18" charset="0"/>
              </a:rPr>
              <a:t>techniques will be applied to create meaningful features that capture the essence of booking patterns based on  date, time, price, special events, holidays, and customer demographics.</a:t>
            </a:r>
            <a:endParaRPr lang="en-US" sz="1800" dirty="0">
              <a:latin typeface="Times New Roman" panose="02020603050405020304" pitchFamily="18" charset="0"/>
              <a:cs typeface="Times New Roman" panose="02020603050405020304" pitchFamily="18" charset="0"/>
            </a:endParaRPr>
          </a:p>
          <a:p>
            <a:pPr lvl="0"/>
            <a:r>
              <a:rPr lang="en-IN" sz="1800" b="1" dirty="0">
                <a:latin typeface="Times New Roman" panose="02020603050405020304" pitchFamily="18" charset="0"/>
                <a:cs typeface="Times New Roman" panose="02020603050405020304" pitchFamily="18" charset="0"/>
              </a:rPr>
              <a:t>2.Model Implementation</a:t>
            </a:r>
            <a:r>
              <a:rPr lang="en-IN" sz="1800" dirty="0">
                <a:latin typeface="Times New Roman" panose="02020603050405020304" pitchFamily="18" charset="0"/>
                <a:cs typeface="Times New Roman" panose="02020603050405020304" pitchFamily="18" charset="0"/>
              </a:rPr>
              <a:t>: Developing multiple regression models to capture the relationship between the features and ticket bookings. This involves training models using the historical data and </a:t>
            </a:r>
            <a:r>
              <a:rPr lang="en-IN" sz="1800" b="1" dirty="0">
                <a:latin typeface="Times New Roman" panose="02020603050405020304" pitchFamily="18" charset="0"/>
                <a:cs typeface="Times New Roman" panose="02020603050405020304" pitchFamily="18" charset="0"/>
              </a:rPr>
              <a:t>tuning hyperparameters</a:t>
            </a:r>
            <a:r>
              <a:rPr lang="en-IN" sz="1800" dirty="0">
                <a:latin typeface="Times New Roman" panose="02020603050405020304" pitchFamily="18" charset="0"/>
                <a:cs typeface="Times New Roman" panose="02020603050405020304" pitchFamily="18" charset="0"/>
              </a:rPr>
              <a:t> to optimize performance.</a:t>
            </a:r>
            <a:endParaRPr lang="en-US" sz="1800" dirty="0">
              <a:latin typeface="Times New Roman" panose="02020603050405020304" pitchFamily="18" charset="0"/>
              <a:cs typeface="Times New Roman" panose="02020603050405020304" pitchFamily="18" charset="0"/>
            </a:endParaRPr>
          </a:p>
          <a:p>
            <a:pPr lvl="0"/>
            <a:r>
              <a:rPr lang="en-IN" sz="1800" b="1" dirty="0">
                <a:latin typeface="Times New Roman" panose="02020603050405020304" pitchFamily="18" charset="0"/>
                <a:cs typeface="Times New Roman" panose="02020603050405020304" pitchFamily="18" charset="0"/>
              </a:rPr>
              <a:t>3.Model Evaluation</a:t>
            </a:r>
            <a:r>
              <a:rPr lang="en-IN" sz="1800" dirty="0">
                <a:latin typeface="Times New Roman" panose="02020603050405020304" pitchFamily="18" charset="0"/>
                <a:cs typeface="Times New Roman" panose="02020603050405020304" pitchFamily="18" charset="0"/>
              </a:rPr>
              <a:t>: Evaluating the models using metrics such as Mean Absolute Error (MAE), Mean Squared Error (MSE), and R-squared. </a:t>
            </a:r>
            <a:r>
              <a:rPr lang="en-IN" sz="1800" b="1" dirty="0">
                <a:latin typeface="Times New Roman" panose="02020603050405020304" pitchFamily="18" charset="0"/>
                <a:cs typeface="Times New Roman" panose="02020603050405020304" pitchFamily="18" charset="0"/>
              </a:rPr>
              <a:t>Cross-validation </a:t>
            </a:r>
            <a:r>
              <a:rPr lang="en-IN" sz="1800" dirty="0">
                <a:latin typeface="Times New Roman" panose="02020603050405020304" pitchFamily="18" charset="0"/>
                <a:cs typeface="Times New Roman" panose="02020603050405020304" pitchFamily="18" charset="0"/>
              </a:rPr>
              <a:t>techniques will be used to ensure the robustness of the models.</a:t>
            </a:r>
            <a:endParaRPr lang="en-US" sz="1800" dirty="0">
              <a:latin typeface="Times New Roman" panose="02020603050405020304" pitchFamily="18" charset="0"/>
              <a:cs typeface="Times New Roman" panose="02020603050405020304" pitchFamily="18" charset="0"/>
            </a:endParaRPr>
          </a:p>
          <a:p>
            <a:pPr lvl="0"/>
            <a:r>
              <a:rPr lang="en-IN" sz="1800" b="1" dirty="0">
                <a:latin typeface="Times New Roman" panose="02020603050405020304" pitchFamily="18" charset="0"/>
                <a:cs typeface="Times New Roman" panose="02020603050405020304" pitchFamily="18" charset="0"/>
              </a:rPr>
              <a:t>4.Prediction and Analysis</a:t>
            </a:r>
            <a:r>
              <a:rPr lang="en-IN" sz="1800" dirty="0">
                <a:latin typeface="Times New Roman" panose="02020603050405020304" pitchFamily="18" charset="0"/>
                <a:cs typeface="Times New Roman" panose="02020603050405020304" pitchFamily="18" charset="0"/>
              </a:rPr>
              <a:t>: Using the optimized model [</a:t>
            </a:r>
            <a:r>
              <a:rPr lang="en-IN" sz="1800" b="1" dirty="0">
                <a:latin typeface="Times New Roman" panose="02020603050405020304" pitchFamily="18" charset="0"/>
                <a:cs typeface="Times New Roman" panose="02020603050405020304" pitchFamily="18" charset="0"/>
              </a:rPr>
              <a:t>Random Forest CV</a:t>
            </a:r>
            <a:r>
              <a:rPr lang="en-IN" sz="1800" dirty="0">
                <a:latin typeface="Times New Roman" panose="02020603050405020304" pitchFamily="18" charset="0"/>
                <a:cs typeface="Times New Roman" panose="02020603050405020304" pitchFamily="18" charset="0"/>
              </a:rPr>
              <a:t>]to predict future ticket bookings. The predictions will be </a:t>
            </a:r>
            <a:r>
              <a:rPr lang="en-IN" sz="1800" dirty="0" err="1">
                <a:latin typeface="Times New Roman" panose="02020603050405020304" pitchFamily="18" charset="0"/>
                <a:cs typeface="Times New Roman" panose="02020603050405020304" pitchFamily="18" charset="0"/>
              </a:rPr>
              <a:t>analyzed</a:t>
            </a:r>
            <a:r>
              <a:rPr lang="en-IN" sz="1800" dirty="0">
                <a:latin typeface="Times New Roman" panose="02020603050405020304" pitchFamily="18" charset="0"/>
                <a:cs typeface="Times New Roman" panose="02020603050405020304" pitchFamily="18" charset="0"/>
              </a:rPr>
              <a:t> to identify trends and provide actionable insights for decision-making.</a:t>
            </a:r>
            <a:endParaRPr lang="en-US" sz="1800"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5.User Interface Development</a:t>
            </a:r>
            <a:r>
              <a:rPr lang="en-IN" sz="1800" dirty="0">
                <a:latin typeface="Times New Roman" panose="02020603050405020304" pitchFamily="18" charset="0"/>
                <a:cs typeface="Times New Roman" panose="02020603050405020304" pitchFamily="18" charset="0"/>
              </a:rPr>
              <a:t>: Creating an interactive interface that allows users to input new data, view predictions, and generate reports. The interface will be designed to be intuitive and user-friendly, enabling stakeholders to make informed decisions.[</a:t>
            </a:r>
            <a:r>
              <a:rPr lang="en-IN" sz="1800" b="1" dirty="0">
                <a:latin typeface="Times New Roman" panose="02020603050405020304" pitchFamily="18" charset="0"/>
                <a:cs typeface="Times New Roman" panose="02020603050405020304" pitchFamily="18" charset="0"/>
              </a:rPr>
              <a:t>Python-</a:t>
            </a:r>
            <a:r>
              <a:rPr lang="en-IN" sz="1800" b="1" dirty="0" err="1">
                <a:latin typeface="Times New Roman" panose="02020603050405020304" pitchFamily="18" charset="0"/>
                <a:cs typeface="Times New Roman" panose="02020603050405020304" pitchFamily="18" charset="0"/>
              </a:rPr>
              <a:t>Streamlit</a:t>
            </a:r>
            <a:r>
              <a:rPr lang="en-IN" sz="1800" b="1" dirty="0">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44388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65CD284-4EDF-D7D0-B2F5-B3586BB5709D}"/>
            </a:ext>
          </a:extLst>
        </p:cNvPr>
        <p:cNvGrpSpPr/>
        <p:nvPr/>
      </p:nvGrpSpPr>
      <p:grpSpPr>
        <a:xfrm>
          <a:off x="0" y="0"/>
          <a:ext cx="0" cy="0"/>
          <a:chOff x="0" y="0"/>
          <a:chExt cx="0" cy="0"/>
        </a:xfrm>
      </p:grpSpPr>
      <p:pic>
        <p:nvPicPr>
          <p:cNvPr id="5" name="object 5">
            <a:extLst>
              <a:ext uri="{FF2B5EF4-FFF2-40B4-BE49-F238E27FC236}">
                <a16:creationId xmlns:a16="http://schemas.microsoft.com/office/drawing/2014/main" id="{ACC2CE48-473B-7369-9F19-D540748D2542}"/>
              </a:ext>
            </a:extLst>
          </p:cNvPr>
          <p:cNvPicPr/>
          <p:nvPr/>
        </p:nvPicPr>
        <p:blipFill>
          <a:blip r:embed="rId2" cstate="print"/>
          <a:stretch>
            <a:fillRect/>
          </a:stretch>
        </p:blipFill>
        <p:spPr>
          <a:xfrm>
            <a:off x="305561" y="931164"/>
            <a:ext cx="8534400" cy="39750"/>
          </a:xfrm>
          <a:prstGeom prst="rect">
            <a:avLst/>
          </a:prstGeom>
        </p:spPr>
      </p:pic>
      <p:pic>
        <p:nvPicPr>
          <p:cNvPr id="15" name="Picture 14" descr="LOGO">
            <a:extLst>
              <a:ext uri="{FF2B5EF4-FFF2-40B4-BE49-F238E27FC236}">
                <a16:creationId xmlns:a16="http://schemas.microsoft.com/office/drawing/2014/main" id="{3E42F439-A998-ACFD-6C24-9DABEB1FDAE1}"/>
              </a:ext>
            </a:extLst>
          </p:cNvPr>
          <p:cNvPicPr>
            <a:picLocks noChangeAspect="1"/>
          </p:cNvPicPr>
          <p:nvPr/>
        </p:nvPicPr>
        <p:blipFill>
          <a:blip r:embed="rId3"/>
          <a:srcRect/>
          <a:stretch>
            <a:fillRect/>
          </a:stretch>
        </p:blipFill>
        <p:spPr bwMode="auto">
          <a:xfrm>
            <a:off x="8077200" y="132704"/>
            <a:ext cx="855345" cy="626110"/>
          </a:xfrm>
          <a:prstGeom prst="rect">
            <a:avLst/>
          </a:prstGeom>
          <a:noFill/>
        </p:spPr>
      </p:pic>
      <p:grpSp>
        <p:nvGrpSpPr>
          <p:cNvPr id="17" name="Group 16">
            <a:extLst>
              <a:ext uri="{FF2B5EF4-FFF2-40B4-BE49-F238E27FC236}">
                <a16:creationId xmlns:a16="http://schemas.microsoft.com/office/drawing/2014/main" id="{1031FFFB-CD90-A108-9D46-42283C750A11}"/>
              </a:ext>
            </a:extLst>
          </p:cNvPr>
          <p:cNvGrpSpPr/>
          <p:nvPr/>
        </p:nvGrpSpPr>
        <p:grpSpPr>
          <a:xfrm>
            <a:off x="7047271" y="6324600"/>
            <a:ext cx="1944329" cy="381000"/>
            <a:chOff x="2590800" y="5257800"/>
            <a:chExt cx="1944329" cy="381000"/>
          </a:xfrm>
        </p:grpSpPr>
        <p:sp>
          <p:nvSpPr>
            <p:cNvPr id="18" name="TextBox 17">
              <a:extLst>
                <a:ext uri="{FF2B5EF4-FFF2-40B4-BE49-F238E27FC236}">
                  <a16:creationId xmlns:a16="http://schemas.microsoft.com/office/drawing/2014/main" id="{A7CE80E5-6CD5-517D-3CB8-78F310937701}"/>
                </a:ext>
              </a:extLst>
            </p:cNvPr>
            <p:cNvSpPr txBox="1"/>
            <p:nvPr/>
          </p:nvSpPr>
          <p:spPr>
            <a:xfrm>
              <a:off x="2590800" y="5257800"/>
              <a:ext cx="381000" cy="369332"/>
            </a:xfrm>
            <a:prstGeom prst="rect">
              <a:avLst/>
            </a:prstGeom>
            <a:solidFill>
              <a:srgbClr val="9900CC"/>
            </a:solidFill>
          </p:spPr>
          <p:txBody>
            <a:bodyPr wrap="square" rtlCol="0">
              <a:spAutoFit/>
            </a:bodyPr>
            <a:lstStyle/>
            <a:p>
              <a:pPr algn="ctr"/>
              <a:r>
                <a:rPr lang="en-IN" b="1" dirty="0">
                  <a:solidFill>
                    <a:schemeClr val="bg1"/>
                  </a:solidFill>
                </a:rPr>
                <a:t>D</a:t>
              </a:r>
            </a:p>
          </p:txBody>
        </p:sp>
        <p:sp>
          <p:nvSpPr>
            <p:cNvPr id="19" name="TextBox 18">
              <a:extLst>
                <a:ext uri="{FF2B5EF4-FFF2-40B4-BE49-F238E27FC236}">
                  <a16:creationId xmlns:a16="http://schemas.microsoft.com/office/drawing/2014/main" id="{26025368-AB9D-FF29-91B5-79A0E07325B9}"/>
                </a:ext>
              </a:extLst>
            </p:cNvPr>
            <p:cNvSpPr txBox="1"/>
            <p:nvPr/>
          </p:nvSpPr>
          <p:spPr>
            <a:xfrm>
              <a:off x="3124200" y="5262405"/>
              <a:ext cx="381000" cy="369332"/>
            </a:xfrm>
            <a:prstGeom prst="rect">
              <a:avLst/>
            </a:prstGeom>
            <a:solidFill>
              <a:srgbClr val="FF9900"/>
            </a:solidFill>
          </p:spPr>
          <p:txBody>
            <a:bodyPr wrap="square" rtlCol="0">
              <a:spAutoFit/>
            </a:bodyPr>
            <a:lstStyle/>
            <a:p>
              <a:pPr algn="ctr"/>
              <a:r>
                <a:rPr lang="en-IN" b="1" dirty="0">
                  <a:solidFill>
                    <a:schemeClr val="bg1"/>
                  </a:solidFill>
                </a:rPr>
                <a:t>I</a:t>
              </a:r>
            </a:p>
          </p:txBody>
        </p:sp>
        <p:sp>
          <p:nvSpPr>
            <p:cNvPr id="20" name="TextBox 19">
              <a:extLst>
                <a:ext uri="{FF2B5EF4-FFF2-40B4-BE49-F238E27FC236}">
                  <a16:creationId xmlns:a16="http://schemas.microsoft.com/office/drawing/2014/main" id="{A9BDD49E-D81C-8538-8457-D951D3EDDB64}"/>
                </a:ext>
              </a:extLst>
            </p:cNvPr>
            <p:cNvSpPr txBox="1"/>
            <p:nvPr/>
          </p:nvSpPr>
          <p:spPr>
            <a:xfrm>
              <a:off x="3657600" y="5267010"/>
              <a:ext cx="381000" cy="369332"/>
            </a:xfrm>
            <a:prstGeom prst="rect">
              <a:avLst/>
            </a:prstGeom>
            <a:solidFill>
              <a:srgbClr val="0000FF"/>
            </a:solidFill>
          </p:spPr>
          <p:txBody>
            <a:bodyPr wrap="square" rtlCol="0">
              <a:spAutoFit/>
            </a:bodyPr>
            <a:lstStyle/>
            <a:p>
              <a:pPr algn="ctr"/>
              <a:r>
                <a:rPr lang="en-IN" b="1" dirty="0">
                  <a:solidFill>
                    <a:schemeClr val="bg1"/>
                  </a:solidFill>
                </a:rPr>
                <a:t>E</a:t>
              </a:r>
            </a:p>
          </p:txBody>
        </p:sp>
        <p:sp>
          <p:nvSpPr>
            <p:cNvPr id="21" name="TextBox 20">
              <a:extLst>
                <a:ext uri="{FF2B5EF4-FFF2-40B4-BE49-F238E27FC236}">
                  <a16:creationId xmlns:a16="http://schemas.microsoft.com/office/drawing/2014/main" id="{877D552B-2410-AF42-2961-0B16D58158AB}"/>
                </a:ext>
              </a:extLst>
            </p:cNvPr>
            <p:cNvSpPr txBox="1"/>
            <p:nvPr/>
          </p:nvSpPr>
          <p:spPr>
            <a:xfrm>
              <a:off x="4154129" y="5269468"/>
              <a:ext cx="381000" cy="369332"/>
            </a:xfrm>
            <a:prstGeom prst="rect">
              <a:avLst/>
            </a:prstGeom>
            <a:solidFill>
              <a:srgbClr val="009900"/>
            </a:solidFill>
          </p:spPr>
          <p:txBody>
            <a:bodyPr wrap="square" rtlCol="0">
              <a:spAutoFit/>
            </a:bodyPr>
            <a:lstStyle/>
            <a:p>
              <a:pPr algn="ctr"/>
              <a:r>
                <a:rPr lang="en-IN" b="1" dirty="0">
                  <a:solidFill>
                    <a:schemeClr val="bg1"/>
                  </a:solidFill>
                </a:rPr>
                <a:t>T</a:t>
              </a:r>
            </a:p>
          </p:txBody>
        </p:sp>
      </p:grpSp>
      <p:sp>
        <p:nvSpPr>
          <p:cNvPr id="4" name="TextBox 3">
            <a:extLst>
              <a:ext uri="{FF2B5EF4-FFF2-40B4-BE49-F238E27FC236}">
                <a16:creationId xmlns:a16="http://schemas.microsoft.com/office/drawing/2014/main" id="{A2832A00-4053-4FA6-4463-A2544F3173BB}"/>
              </a:ext>
            </a:extLst>
          </p:cNvPr>
          <p:cNvSpPr txBox="1"/>
          <p:nvPr/>
        </p:nvSpPr>
        <p:spPr>
          <a:xfrm>
            <a:off x="179779" y="970914"/>
            <a:ext cx="3675938"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SYSTEM DESIGN</a:t>
            </a:r>
            <a:endParaRPr lang="en-IN" sz="20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3029724-F6EB-9C62-D626-8BCA30461003}"/>
              </a:ext>
            </a:extLst>
          </p:cNvPr>
          <p:cNvSpPr txBox="1"/>
          <p:nvPr/>
        </p:nvSpPr>
        <p:spPr>
          <a:xfrm>
            <a:off x="305561" y="1371024"/>
            <a:ext cx="8534400" cy="369332"/>
          </a:xfrm>
          <a:prstGeom prst="rect">
            <a:avLst/>
          </a:prstGeom>
          <a:noFill/>
        </p:spPr>
        <p:txBody>
          <a:bodyPr wrap="square" rtlCol="0">
            <a:spAutoFit/>
          </a:bodyPr>
          <a:lstStyle/>
          <a:p>
            <a:pPr algn="just">
              <a:lnSpc>
                <a:spcPct val="100000"/>
              </a:lnSpc>
              <a:buNone/>
            </a:pPr>
            <a:r>
              <a:rPr lang="en-US" sz="1800" dirty="0">
                <a:latin typeface="Times New Roman" panose="02020603050405020304" pitchFamily="18" charset="0"/>
                <a:cs typeface="Times New Roman" panose="02020603050405020304" pitchFamily="18" charset="0"/>
                <a:sym typeface="+mn-ea"/>
              </a:rPr>
              <a:t>.</a:t>
            </a:r>
            <a:r>
              <a:rPr lang="en-US" sz="1800" b="1" dirty="0">
                <a:latin typeface="Times New Roman" panose="02020603050405020304" pitchFamily="18" charset="0"/>
                <a:cs typeface="Times New Roman" panose="02020603050405020304" pitchFamily="18" charset="0"/>
                <a:sym typeface="+mn-ea"/>
              </a:rPr>
              <a:t>    </a:t>
            </a:r>
            <a:endParaRPr lang="en-US" sz="18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4034BE6A-0682-34FA-02E5-081F7D21B238}"/>
              </a:ext>
            </a:extLst>
          </p:cNvPr>
          <p:cNvSpPr txBox="1"/>
          <p:nvPr/>
        </p:nvSpPr>
        <p:spPr>
          <a:xfrm>
            <a:off x="320309" y="4408365"/>
            <a:ext cx="3809240" cy="923330"/>
          </a:xfrm>
          <a:prstGeom prst="rect">
            <a:avLst/>
          </a:prstGeom>
          <a:noFill/>
        </p:spPr>
        <p:txBody>
          <a:bodyPr wrap="square" rtlCol="0">
            <a:spAutoFit/>
          </a:bodyPr>
          <a:lstStyle/>
          <a:p>
            <a:pPr algn="just">
              <a:buNone/>
            </a:pPr>
            <a:r>
              <a:rPr lang="en-US" sz="1800" b="1" dirty="0">
                <a:latin typeface="Times New Roman" panose="02020603050405020304" pitchFamily="18" charset="0"/>
                <a:cs typeface="Times New Roman" panose="02020603050405020304" pitchFamily="18" charset="0"/>
                <a:sym typeface="+mn-ea"/>
              </a:rPr>
              <a:t>:</a:t>
            </a:r>
            <a:endParaRPr lang="en-US" sz="1800" b="1" dirty="0">
              <a:latin typeface="Times New Roman" panose="02020603050405020304" pitchFamily="18" charset="0"/>
              <a:cs typeface="Times New Roman" panose="02020603050405020304" pitchFamily="18" charset="0"/>
            </a:endParaRPr>
          </a:p>
          <a:p>
            <a:pPr algn="just">
              <a:buNone/>
            </a:pPr>
            <a:r>
              <a:rPr lang="en-US" sz="1800" dirty="0">
                <a:sym typeface="+mn-ea"/>
              </a:rPr>
              <a:t>          </a:t>
            </a:r>
            <a:endParaRPr lang="en-US" sz="1800" dirty="0"/>
          </a:p>
          <a:p>
            <a:endParaRPr lang="en-IN" dirty="0"/>
          </a:p>
        </p:txBody>
      </p:sp>
      <p:sp>
        <p:nvSpPr>
          <p:cNvPr id="10" name="TextBox 9">
            <a:extLst>
              <a:ext uri="{FF2B5EF4-FFF2-40B4-BE49-F238E27FC236}">
                <a16:creationId xmlns:a16="http://schemas.microsoft.com/office/drawing/2014/main" id="{6810CF58-906F-3B58-D74D-8B94B7C92092}"/>
              </a:ext>
            </a:extLst>
          </p:cNvPr>
          <p:cNvSpPr txBox="1"/>
          <p:nvPr/>
        </p:nvSpPr>
        <p:spPr>
          <a:xfrm>
            <a:off x="-563883" y="2822853"/>
            <a:ext cx="4419600" cy="646331"/>
          </a:xfrm>
          <a:prstGeom prst="rect">
            <a:avLst/>
          </a:prstGeom>
          <a:noFill/>
        </p:spPr>
        <p:txBody>
          <a:bodyPr wrap="square" rtlCol="0">
            <a:spAutoFit/>
          </a:bodyPr>
          <a:lstStyle/>
          <a:p>
            <a:pPr algn="just"/>
            <a:r>
              <a:rPr lang="en-US" sz="1800" b="1" dirty="0">
                <a:latin typeface="Times New Roman" panose="02020603050405020304" pitchFamily="18" charset="0"/>
                <a:cs typeface="Times New Roman" panose="02020603050405020304" pitchFamily="18" charset="0"/>
                <a:sym typeface="+mn-ea"/>
              </a:rPr>
              <a:t>:</a:t>
            </a:r>
            <a:endParaRPr lang="en-US" sz="1800" b="1" dirty="0">
              <a:latin typeface="Times New Roman" panose="02020603050405020304" pitchFamily="18" charset="0"/>
              <a:cs typeface="Times New Roman" panose="02020603050405020304" pitchFamily="18" charset="0"/>
            </a:endParaRPr>
          </a:p>
          <a:p>
            <a:endParaRPr lang="en-IN" dirty="0"/>
          </a:p>
        </p:txBody>
      </p:sp>
      <p:sp>
        <p:nvSpPr>
          <p:cNvPr id="2" name="TextBox 1">
            <a:extLst>
              <a:ext uri="{FF2B5EF4-FFF2-40B4-BE49-F238E27FC236}">
                <a16:creationId xmlns:a16="http://schemas.microsoft.com/office/drawing/2014/main" id="{4884488B-CE21-5C30-5ACE-C7D48752660A}"/>
              </a:ext>
            </a:extLst>
          </p:cNvPr>
          <p:cNvSpPr txBox="1"/>
          <p:nvPr/>
        </p:nvSpPr>
        <p:spPr>
          <a:xfrm>
            <a:off x="-326923" y="3019731"/>
            <a:ext cx="8288593" cy="646331"/>
          </a:xfrm>
          <a:prstGeom prst="rect">
            <a:avLst/>
          </a:prstGeom>
          <a:noFill/>
        </p:spPr>
        <p:txBody>
          <a:bodyPr wrap="square" rtlCol="0">
            <a:spAutoFit/>
          </a:bodyPr>
          <a:lstStyle/>
          <a:p>
            <a:pPr algn="just"/>
            <a:r>
              <a:rPr lang="en-US" sz="1800" b="1" dirty="0">
                <a:latin typeface="Times New Roman" panose="02020603050405020304" pitchFamily="18" charset="0"/>
                <a:cs typeface="Times New Roman" panose="02020603050405020304" pitchFamily="18" charset="0"/>
                <a:sym typeface="+mn-ea"/>
              </a:rPr>
              <a:t>:</a:t>
            </a:r>
            <a:endParaRPr lang="en-US" sz="1800" b="1" dirty="0">
              <a:latin typeface="Times New Roman" panose="02020603050405020304" pitchFamily="18" charset="0"/>
              <a:cs typeface="Times New Roman" panose="02020603050405020304" pitchFamily="18" charset="0"/>
            </a:endParaRPr>
          </a:p>
          <a:p>
            <a:endParaRPr lang="en-IN" dirty="0"/>
          </a:p>
        </p:txBody>
      </p:sp>
      <p:sp>
        <p:nvSpPr>
          <p:cNvPr id="3" name="TextBox 2">
            <a:extLst>
              <a:ext uri="{FF2B5EF4-FFF2-40B4-BE49-F238E27FC236}">
                <a16:creationId xmlns:a16="http://schemas.microsoft.com/office/drawing/2014/main" id="{24C780E5-AAD7-9E5F-5A5A-E6D0BD239B41}"/>
              </a:ext>
            </a:extLst>
          </p:cNvPr>
          <p:cNvSpPr txBox="1"/>
          <p:nvPr/>
        </p:nvSpPr>
        <p:spPr>
          <a:xfrm>
            <a:off x="-259083" y="3143396"/>
            <a:ext cx="4419600" cy="646331"/>
          </a:xfrm>
          <a:prstGeom prst="rect">
            <a:avLst/>
          </a:prstGeom>
          <a:noFill/>
        </p:spPr>
        <p:txBody>
          <a:bodyPr wrap="square" rtlCol="0">
            <a:spAutoFit/>
          </a:bodyPr>
          <a:lstStyle/>
          <a:p>
            <a:pPr algn="just"/>
            <a:r>
              <a:rPr lang="en-US" sz="1800" b="1" dirty="0">
                <a:latin typeface="Times New Roman" panose="02020603050405020304" pitchFamily="18" charset="0"/>
                <a:cs typeface="Times New Roman" panose="02020603050405020304" pitchFamily="18" charset="0"/>
                <a:sym typeface="+mn-ea"/>
              </a:rPr>
              <a:t>:</a:t>
            </a:r>
            <a:endParaRPr lang="en-US" sz="1800" b="1" dirty="0">
              <a:latin typeface="Times New Roman" panose="02020603050405020304" pitchFamily="18" charset="0"/>
              <a:cs typeface="Times New Roman" panose="02020603050405020304" pitchFamily="18" charset="0"/>
            </a:endParaRPr>
          </a:p>
          <a:p>
            <a:endParaRPr lang="en-IN" dirty="0"/>
          </a:p>
        </p:txBody>
      </p:sp>
      <p:sp>
        <p:nvSpPr>
          <p:cNvPr id="11" name="TextBox 10">
            <a:extLst>
              <a:ext uri="{FF2B5EF4-FFF2-40B4-BE49-F238E27FC236}">
                <a16:creationId xmlns:a16="http://schemas.microsoft.com/office/drawing/2014/main" id="{EC46A402-8810-5BAD-1F89-03DD135EEE13}"/>
              </a:ext>
            </a:extLst>
          </p:cNvPr>
          <p:cNvSpPr txBox="1"/>
          <p:nvPr/>
        </p:nvSpPr>
        <p:spPr>
          <a:xfrm>
            <a:off x="-106683" y="3280053"/>
            <a:ext cx="4419600" cy="646331"/>
          </a:xfrm>
          <a:prstGeom prst="rect">
            <a:avLst/>
          </a:prstGeom>
          <a:noFill/>
        </p:spPr>
        <p:txBody>
          <a:bodyPr wrap="square" rtlCol="0">
            <a:spAutoFit/>
          </a:bodyPr>
          <a:lstStyle/>
          <a:p>
            <a:pPr algn="just"/>
            <a:r>
              <a:rPr lang="en-US" sz="1800" b="1" dirty="0">
                <a:latin typeface="Times New Roman" panose="02020603050405020304" pitchFamily="18" charset="0"/>
                <a:cs typeface="Times New Roman" panose="02020603050405020304" pitchFamily="18" charset="0"/>
                <a:sym typeface="+mn-ea"/>
              </a:rPr>
              <a:t>:</a:t>
            </a:r>
            <a:endParaRPr lang="en-US" sz="1800" b="1" dirty="0">
              <a:latin typeface="Times New Roman" panose="02020603050405020304" pitchFamily="18" charset="0"/>
              <a:cs typeface="Times New Roman" panose="02020603050405020304" pitchFamily="18" charset="0"/>
            </a:endParaRPr>
          </a:p>
          <a:p>
            <a:endParaRPr lang="en-IN" dirty="0"/>
          </a:p>
        </p:txBody>
      </p:sp>
      <p:sp>
        <p:nvSpPr>
          <p:cNvPr id="13" name="TextBox 12">
            <a:extLst>
              <a:ext uri="{FF2B5EF4-FFF2-40B4-BE49-F238E27FC236}">
                <a16:creationId xmlns:a16="http://schemas.microsoft.com/office/drawing/2014/main" id="{B964DC2A-54DF-120E-5771-7CE090FFF8BC}"/>
              </a:ext>
            </a:extLst>
          </p:cNvPr>
          <p:cNvSpPr txBox="1"/>
          <p:nvPr/>
        </p:nvSpPr>
        <p:spPr>
          <a:xfrm>
            <a:off x="1143000" y="5417196"/>
            <a:ext cx="8341092" cy="64633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TRANSPORTATION DEMAND PREDCTION DESIGN</a:t>
            </a:r>
            <a:endParaRPr lang="en-IN" b="1" dirty="0">
              <a:latin typeface="Times New Roman" panose="02020603050405020304" pitchFamily="18" charset="0"/>
              <a:cs typeface="Times New Roman" panose="02020603050405020304" pitchFamily="18" charset="0"/>
            </a:endParaRPr>
          </a:p>
          <a:p>
            <a:endParaRPr lang="en-IN" dirty="0"/>
          </a:p>
        </p:txBody>
      </p:sp>
      <p:pic>
        <p:nvPicPr>
          <p:cNvPr id="9" name="Picture 8">
            <a:extLst>
              <a:ext uri="{FF2B5EF4-FFF2-40B4-BE49-F238E27FC236}">
                <a16:creationId xmlns:a16="http://schemas.microsoft.com/office/drawing/2014/main" id="{13EEE9D6-CAED-ED96-E5B5-CD12D5CFD8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2969" y="1393147"/>
            <a:ext cx="8518131" cy="4041786"/>
          </a:xfrm>
          <a:prstGeom prst="rect">
            <a:avLst/>
          </a:prstGeom>
        </p:spPr>
      </p:pic>
    </p:spTree>
    <p:extLst>
      <p:ext uri="{BB962C8B-B14F-4D97-AF65-F5344CB8AC3E}">
        <p14:creationId xmlns:p14="http://schemas.microsoft.com/office/powerpoint/2010/main" val="4076854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397F6DD-47E5-8528-1298-FC939FAAB4FF}"/>
            </a:ext>
          </a:extLst>
        </p:cNvPr>
        <p:cNvGrpSpPr/>
        <p:nvPr/>
      </p:nvGrpSpPr>
      <p:grpSpPr>
        <a:xfrm>
          <a:off x="0" y="0"/>
          <a:ext cx="0" cy="0"/>
          <a:chOff x="0" y="0"/>
          <a:chExt cx="0" cy="0"/>
        </a:xfrm>
      </p:grpSpPr>
      <p:pic>
        <p:nvPicPr>
          <p:cNvPr id="5" name="object 5">
            <a:extLst>
              <a:ext uri="{FF2B5EF4-FFF2-40B4-BE49-F238E27FC236}">
                <a16:creationId xmlns:a16="http://schemas.microsoft.com/office/drawing/2014/main" id="{0EA99A59-2327-BF04-7BD8-763EEDC4B937}"/>
              </a:ext>
            </a:extLst>
          </p:cNvPr>
          <p:cNvPicPr/>
          <p:nvPr/>
        </p:nvPicPr>
        <p:blipFill>
          <a:blip r:embed="rId2" cstate="print"/>
          <a:stretch>
            <a:fillRect/>
          </a:stretch>
        </p:blipFill>
        <p:spPr>
          <a:xfrm>
            <a:off x="305561" y="931164"/>
            <a:ext cx="8534400" cy="39750"/>
          </a:xfrm>
          <a:prstGeom prst="rect">
            <a:avLst/>
          </a:prstGeom>
        </p:spPr>
      </p:pic>
      <p:pic>
        <p:nvPicPr>
          <p:cNvPr id="15" name="Picture 14" descr="LOGO">
            <a:extLst>
              <a:ext uri="{FF2B5EF4-FFF2-40B4-BE49-F238E27FC236}">
                <a16:creationId xmlns:a16="http://schemas.microsoft.com/office/drawing/2014/main" id="{AE5AD810-A025-21AD-1AFC-6D2E2CAD678E}"/>
              </a:ext>
            </a:extLst>
          </p:cNvPr>
          <p:cNvPicPr>
            <a:picLocks noChangeAspect="1"/>
          </p:cNvPicPr>
          <p:nvPr/>
        </p:nvPicPr>
        <p:blipFill>
          <a:blip r:embed="rId3"/>
          <a:srcRect/>
          <a:stretch>
            <a:fillRect/>
          </a:stretch>
        </p:blipFill>
        <p:spPr bwMode="auto">
          <a:xfrm>
            <a:off x="8077200" y="132704"/>
            <a:ext cx="855345" cy="626110"/>
          </a:xfrm>
          <a:prstGeom prst="rect">
            <a:avLst/>
          </a:prstGeom>
          <a:noFill/>
        </p:spPr>
      </p:pic>
      <p:grpSp>
        <p:nvGrpSpPr>
          <p:cNvPr id="17" name="Group 16">
            <a:extLst>
              <a:ext uri="{FF2B5EF4-FFF2-40B4-BE49-F238E27FC236}">
                <a16:creationId xmlns:a16="http://schemas.microsoft.com/office/drawing/2014/main" id="{361BD932-A136-8418-E9BC-11AB01600FAF}"/>
              </a:ext>
            </a:extLst>
          </p:cNvPr>
          <p:cNvGrpSpPr/>
          <p:nvPr/>
        </p:nvGrpSpPr>
        <p:grpSpPr>
          <a:xfrm>
            <a:off x="7047271" y="6324600"/>
            <a:ext cx="1944329" cy="381000"/>
            <a:chOff x="2590800" y="5257800"/>
            <a:chExt cx="1944329" cy="381000"/>
          </a:xfrm>
        </p:grpSpPr>
        <p:sp>
          <p:nvSpPr>
            <p:cNvPr id="18" name="TextBox 17">
              <a:extLst>
                <a:ext uri="{FF2B5EF4-FFF2-40B4-BE49-F238E27FC236}">
                  <a16:creationId xmlns:a16="http://schemas.microsoft.com/office/drawing/2014/main" id="{B76E9B09-A923-FC53-CF5E-96819E748DA3}"/>
                </a:ext>
              </a:extLst>
            </p:cNvPr>
            <p:cNvSpPr txBox="1"/>
            <p:nvPr/>
          </p:nvSpPr>
          <p:spPr>
            <a:xfrm>
              <a:off x="2590800" y="5257800"/>
              <a:ext cx="381000" cy="369332"/>
            </a:xfrm>
            <a:prstGeom prst="rect">
              <a:avLst/>
            </a:prstGeom>
            <a:solidFill>
              <a:srgbClr val="9900CC"/>
            </a:solidFill>
          </p:spPr>
          <p:txBody>
            <a:bodyPr wrap="square" rtlCol="0">
              <a:spAutoFit/>
            </a:bodyPr>
            <a:lstStyle/>
            <a:p>
              <a:pPr algn="ctr"/>
              <a:r>
                <a:rPr lang="en-IN" b="1" dirty="0">
                  <a:solidFill>
                    <a:schemeClr val="bg1"/>
                  </a:solidFill>
                </a:rPr>
                <a:t>D</a:t>
              </a:r>
            </a:p>
          </p:txBody>
        </p:sp>
        <p:sp>
          <p:nvSpPr>
            <p:cNvPr id="19" name="TextBox 18">
              <a:extLst>
                <a:ext uri="{FF2B5EF4-FFF2-40B4-BE49-F238E27FC236}">
                  <a16:creationId xmlns:a16="http://schemas.microsoft.com/office/drawing/2014/main" id="{FAD000F2-68BB-D298-752F-2163E472E26A}"/>
                </a:ext>
              </a:extLst>
            </p:cNvPr>
            <p:cNvSpPr txBox="1"/>
            <p:nvPr/>
          </p:nvSpPr>
          <p:spPr>
            <a:xfrm>
              <a:off x="3124200" y="5262405"/>
              <a:ext cx="381000" cy="369332"/>
            </a:xfrm>
            <a:prstGeom prst="rect">
              <a:avLst/>
            </a:prstGeom>
            <a:solidFill>
              <a:srgbClr val="FF9900"/>
            </a:solidFill>
          </p:spPr>
          <p:txBody>
            <a:bodyPr wrap="square" rtlCol="0">
              <a:spAutoFit/>
            </a:bodyPr>
            <a:lstStyle/>
            <a:p>
              <a:pPr algn="ctr"/>
              <a:r>
                <a:rPr lang="en-IN" b="1" dirty="0">
                  <a:solidFill>
                    <a:schemeClr val="bg1"/>
                  </a:solidFill>
                </a:rPr>
                <a:t>I</a:t>
              </a:r>
            </a:p>
          </p:txBody>
        </p:sp>
        <p:sp>
          <p:nvSpPr>
            <p:cNvPr id="20" name="TextBox 19">
              <a:extLst>
                <a:ext uri="{FF2B5EF4-FFF2-40B4-BE49-F238E27FC236}">
                  <a16:creationId xmlns:a16="http://schemas.microsoft.com/office/drawing/2014/main" id="{623BC2FB-6148-2C26-98D7-027E2324E2DA}"/>
                </a:ext>
              </a:extLst>
            </p:cNvPr>
            <p:cNvSpPr txBox="1"/>
            <p:nvPr/>
          </p:nvSpPr>
          <p:spPr>
            <a:xfrm>
              <a:off x="3657600" y="5267010"/>
              <a:ext cx="381000" cy="369332"/>
            </a:xfrm>
            <a:prstGeom prst="rect">
              <a:avLst/>
            </a:prstGeom>
            <a:solidFill>
              <a:srgbClr val="0000FF"/>
            </a:solidFill>
          </p:spPr>
          <p:txBody>
            <a:bodyPr wrap="square" rtlCol="0">
              <a:spAutoFit/>
            </a:bodyPr>
            <a:lstStyle/>
            <a:p>
              <a:pPr algn="ctr"/>
              <a:r>
                <a:rPr lang="en-IN" b="1" dirty="0">
                  <a:solidFill>
                    <a:schemeClr val="bg1"/>
                  </a:solidFill>
                </a:rPr>
                <a:t>E</a:t>
              </a:r>
            </a:p>
          </p:txBody>
        </p:sp>
        <p:sp>
          <p:nvSpPr>
            <p:cNvPr id="21" name="TextBox 20">
              <a:extLst>
                <a:ext uri="{FF2B5EF4-FFF2-40B4-BE49-F238E27FC236}">
                  <a16:creationId xmlns:a16="http://schemas.microsoft.com/office/drawing/2014/main" id="{8BBF9430-FA08-CB5F-0B16-671ABE91896D}"/>
                </a:ext>
              </a:extLst>
            </p:cNvPr>
            <p:cNvSpPr txBox="1"/>
            <p:nvPr/>
          </p:nvSpPr>
          <p:spPr>
            <a:xfrm>
              <a:off x="4154129" y="5269468"/>
              <a:ext cx="381000" cy="369332"/>
            </a:xfrm>
            <a:prstGeom prst="rect">
              <a:avLst/>
            </a:prstGeom>
            <a:solidFill>
              <a:srgbClr val="009900"/>
            </a:solidFill>
          </p:spPr>
          <p:txBody>
            <a:bodyPr wrap="square" rtlCol="0">
              <a:spAutoFit/>
            </a:bodyPr>
            <a:lstStyle/>
            <a:p>
              <a:pPr algn="ctr"/>
              <a:r>
                <a:rPr lang="en-IN" b="1" dirty="0">
                  <a:solidFill>
                    <a:schemeClr val="bg1"/>
                  </a:solidFill>
                </a:rPr>
                <a:t>T</a:t>
              </a:r>
            </a:p>
          </p:txBody>
        </p:sp>
      </p:grpSp>
      <p:sp>
        <p:nvSpPr>
          <p:cNvPr id="6" name="TextBox 5">
            <a:extLst>
              <a:ext uri="{FF2B5EF4-FFF2-40B4-BE49-F238E27FC236}">
                <a16:creationId xmlns:a16="http://schemas.microsoft.com/office/drawing/2014/main" id="{BDF24715-6F26-28EB-1252-3B9B3111675F}"/>
              </a:ext>
            </a:extLst>
          </p:cNvPr>
          <p:cNvSpPr txBox="1"/>
          <p:nvPr/>
        </p:nvSpPr>
        <p:spPr>
          <a:xfrm>
            <a:off x="14748" y="1550577"/>
            <a:ext cx="8839961" cy="400110"/>
          </a:xfrm>
          <a:prstGeom prst="rect">
            <a:avLst/>
          </a:prstGeom>
          <a:noFill/>
        </p:spPr>
        <p:txBody>
          <a:bodyPr wrap="square" rtlCol="0">
            <a:spAutoFit/>
          </a:bodyPr>
          <a:lstStyle/>
          <a:p>
            <a:pPr algn="just">
              <a:lnSpc>
                <a:spcPct val="100000"/>
              </a:lnSpc>
              <a:buNone/>
            </a:pPr>
            <a:r>
              <a:rPr lang="en-US" sz="1800" b="1" dirty="0">
                <a:latin typeface="Times New Roman" panose="02020603050405020304" pitchFamily="18" charset="0"/>
                <a:cs typeface="Times New Roman" panose="02020603050405020304" pitchFamily="18" charset="0"/>
                <a:sym typeface="+mn-ea"/>
              </a:rPr>
              <a:t>    </a:t>
            </a:r>
            <a:r>
              <a:rPr lang="en-US" sz="2000" b="1" dirty="0">
                <a:latin typeface="Times New Roman" panose="02020603050405020304" pitchFamily="18" charset="0"/>
                <a:cs typeface="Times New Roman" panose="02020603050405020304" pitchFamily="18" charset="0"/>
                <a:sym typeface="+mn-ea"/>
              </a:rPr>
              <a:t>CLASSIFICATION OF ALGORITHMS</a:t>
            </a:r>
            <a:endParaRPr lang="en-US"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0CB7023-CEBE-9F8B-8C52-735058BCAA91}"/>
              </a:ext>
            </a:extLst>
          </p:cNvPr>
          <p:cNvSpPr txBox="1"/>
          <p:nvPr/>
        </p:nvSpPr>
        <p:spPr>
          <a:xfrm>
            <a:off x="320309" y="4776238"/>
            <a:ext cx="8519651" cy="1200329"/>
          </a:xfrm>
          <a:prstGeom prst="rect">
            <a:avLst/>
          </a:prstGeom>
          <a:noFill/>
        </p:spPr>
        <p:txBody>
          <a:bodyPr wrap="square" rtlCol="0">
            <a:spAutoFit/>
          </a:bodyPr>
          <a:lstStyle/>
          <a:p>
            <a:pPr algn="just"/>
            <a:r>
              <a:rPr lang="en-US" b="0" dirty="0">
                <a:effectLst/>
                <a:latin typeface="Times New Roman" panose="02020603050405020304" pitchFamily="18" charset="0"/>
                <a:cs typeface="Times New Roman" panose="02020603050405020304" pitchFamily="18" charset="0"/>
              </a:rPr>
              <a:t>The model has predicted well at training. I found that for training data there is a R2 score of 61.1</a:t>
            </a:r>
            <a:r>
              <a:rPr lang="en-US" dirty="0">
                <a:latin typeface="Times New Roman" panose="02020603050405020304" pitchFamily="18" charset="0"/>
                <a:cs typeface="Times New Roman" panose="02020603050405020304" pitchFamily="18" charset="0"/>
              </a:rPr>
              <a:t>1</a:t>
            </a:r>
            <a:r>
              <a:rPr lang="en-US" b="0" dirty="0">
                <a:effectLst/>
                <a:latin typeface="Times New Roman" panose="02020603050405020304" pitchFamily="18" charset="0"/>
                <a:cs typeface="Times New Roman" panose="02020603050405020304" pitchFamily="18" charset="0"/>
              </a:rPr>
              <a:t>% which means the model has predicted well on the datapoints. Which means low bias. Also the model has a R2 score of 61.5</a:t>
            </a:r>
            <a:r>
              <a:rPr lang="en-US" dirty="0">
                <a:latin typeface="Times New Roman" panose="02020603050405020304" pitchFamily="18" charset="0"/>
                <a:cs typeface="Times New Roman" panose="02020603050405020304" pitchFamily="18" charset="0"/>
              </a:rPr>
              <a:t>4</a:t>
            </a:r>
            <a:r>
              <a:rPr lang="en-US" b="0" dirty="0">
                <a:effectLst/>
                <a:latin typeface="Times New Roman" panose="02020603050405020304" pitchFamily="18" charset="0"/>
                <a:cs typeface="Times New Roman" panose="02020603050405020304" pitchFamily="18" charset="0"/>
              </a:rPr>
              <a:t>%. The variance in model is also low. This is the best performing model I have found</a:t>
            </a:r>
            <a:r>
              <a:rPr lang="en-US" b="0" dirty="0">
                <a:effectLst/>
                <a:latin typeface="Consolas" panose="020B0609020204030204" pitchFamily="49" charset="0"/>
              </a:rPr>
              <a:t>.</a:t>
            </a:r>
          </a:p>
        </p:txBody>
      </p:sp>
      <p:pic>
        <p:nvPicPr>
          <p:cNvPr id="3" name="Picture 2">
            <a:extLst>
              <a:ext uri="{FF2B5EF4-FFF2-40B4-BE49-F238E27FC236}">
                <a16:creationId xmlns:a16="http://schemas.microsoft.com/office/drawing/2014/main" id="{78CB12D8-7E19-53D5-5CF0-C5F85B463E4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4032" y="2092835"/>
            <a:ext cx="8558513" cy="2541254"/>
          </a:xfrm>
          <a:prstGeom prst="rect">
            <a:avLst/>
          </a:prstGeom>
        </p:spPr>
      </p:pic>
      <p:sp>
        <p:nvSpPr>
          <p:cNvPr id="11" name="TextBox 10">
            <a:extLst>
              <a:ext uri="{FF2B5EF4-FFF2-40B4-BE49-F238E27FC236}">
                <a16:creationId xmlns:a16="http://schemas.microsoft.com/office/drawing/2014/main" id="{B48499A9-3119-E9EE-0B61-8AA871EEE645}"/>
              </a:ext>
            </a:extLst>
          </p:cNvPr>
          <p:cNvSpPr txBox="1"/>
          <p:nvPr/>
        </p:nvSpPr>
        <p:spPr>
          <a:xfrm>
            <a:off x="2057400" y="5486400"/>
            <a:ext cx="184731" cy="369332"/>
          </a:xfrm>
          <a:prstGeom prst="rect">
            <a:avLst/>
          </a:prstGeom>
          <a:noFill/>
        </p:spPr>
        <p:txBody>
          <a:bodyPr wrap="none" rtlCol="0">
            <a:spAutoFit/>
          </a:bodyPr>
          <a:lstStyle/>
          <a:p>
            <a:endParaRPr lang="en-IN" dirty="0"/>
          </a:p>
        </p:txBody>
      </p:sp>
      <p:sp>
        <p:nvSpPr>
          <p:cNvPr id="2" name="TextBox 1">
            <a:extLst>
              <a:ext uri="{FF2B5EF4-FFF2-40B4-BE49-F238E27FC236}">
                <a16:creationId xmlns:a16="http://schemas.microsoft.com/office/drawing/2014/main" id="{6E783601-906C-9A96-5E70-ECE4462CDD96}"/>
              </a:ext>
            </a:extLst>
          </p:cNvPr>
          <p:cNvSpPr txBox="1"/>
          <p:nvPr/>
        </p:nvSpPr>
        <p:spPr>
          <a:xfrm>
            <a:off x="228600" y="1039196"/>
            <a:ext cx="2292968"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RESULTS</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95326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7F57C26-FE36-C115-0B04-8DB29FCE69D0}"/>
            </a:ext>
          </a:extLst>
        </p:cNvPr>
        <p:cNvGrpSpPr/>
        <p:nvPr/>
      </p:nvGrpSpPr>
      <p:grpSpPr>
        <a:xfrm>
          <a:off x="0" y="0"/>
          <a:ext cx="0" cy="0"/>
          <a:chOff x="0" y="0"/>
          <a:chExt cx="0" cy="0"/>
        </a:xfrm>
      </p:grpSpPr>
      <p:pic>
        <p:nvPicPr>
          <p:cNvPr id="5" name="object 5">
            <a:extLst>
              <a:ext uri="{FF2B5EF4-FFF2-40B4-BE49-F238E27FC236}">
                <a16:creationId xmlns:a16="http://schemas.microsoft.com/office/drawing/2014/main" id="{E79569C3-2435-A106-E8FE-23425982FFEA}"/>
              </a:ext>
            </a:extLst>
          </p:cNvPr>
          <p:cNvPicPr/>
          <p:nvPr/>
        </p:nvPicPr>
        <p:blipFill>
          <a:blip r:embed="rId2" cstate="print"/>
          <a:stretch>
            <a:fillRect/>
          </a:stretch>
        </p:blipFill>
        <p:spPr>
          <a:xfrm>
            <a:off x="305561" y="931164"/>
            <a:ext cx="8534400" cy="39750"/>
          </a:xfrm>
          <a:prstGeom prst="rect">
            <a:avLst/>
          </a:prstGeom>
        </p:spPr>
      </p:pic>
      <p:pic>
        <p:nvPicPr>
          <p:cNvPr id="15" name="Picture 14" descr="LOGO">
            <a:extLst>
              <a:ext uri="{FF2B5EF4-FFF2-40B4-BE49-F238E27FC236}">
                <a16:creationId xmlns:a16="http://schemas.microsoft.com/office/drawing/2014/main" id="{F4CAFE2C-E89E-C8DB-8DF9-6E4FB4F6CF30}"/>
              </a:ext>
            </a:extLst>
          </p:cNvPr>
          <p:cNvPicPr>
            <a:picLocks noChangeAspect="1"/>
          </p:cNvPicPr>
          <p:nvPr/>
        </p:nvPicPr>
        <p:blipFill>
          <a:blip r:embed="rId3"/>
          <a:srcRect/>
          <a:stretch>
            <a:fillRect/>
          </a:stretch>
        </p:blipFill>
        <p:spPr bwMode="auto">
          <a:xfrm>
            <a:off x="8077200" y="132704"/>
            <a:ext cx="855345" cy="626110"/>
          </a:xfrm>
          <a:prstGeom prst="rect">
            <a:avLst/>
          </a:prstGeom>
          <a:noFill/>
        </p:spPr>
      </p:pic>
      <p:grpSp>
        <p:nvGrpSpPr>
          <p:cNvPr id="17" name="Group 16">
            <a:extLst>
              <a:ext uri="{FF2B5EF4-FFF2-40B4-BE49-F238E27FC236}">
                <a16:creationId xmlns:a16="http://schemas.microsoft.com/office/drawing/2014/main" id="{CAAA0353-E319-69B9-0E3B-443031B5DDF4}"/>
              </a:ext>
            </a:extLst>
          </p:cNvPr>
          <p:cNvGrpSpPr/>
          <p:nvPr/>
        </p:nvGrpSpPr>
        <p:grpSpPr>
          <a:xfrm>
            <a:off x="7047271" y="6324600"/>
            <a:ext cx="1944329" cy="381000"/>
            <a:chOff x="2590800" y="5257800"/>
            <a:chExt cx="1944329" cy="381000"/>
          </a:xfrm>
        </p:grpSpPr>
        <p:sp>
          <p:nvSpPr>
            <p:cNvPr id="18" name="TextBox 17">
              <a:extLst>
                <a:ext uri="{FF2B5EF4-FFF2-40B4-BE49-F238E27FC236}">
                  <a16:creationId xmlns:a16="http://schemas.microsoft.com/office/drawing/2014/main" id="{9179F551-4F38-C198-6BD1-5B079987CFF5}"/>
                </a:ext>
              </a:extLst>
            </p:cNvPr>
            <p:cNvSpPr txBox="1"/>
            <p:nvPr/>
          </p:nvSpPr>
          <p:spPr>
            <a:xfrm>
              <a:off x="2590800" y="5257800"/>
              <a:ext cx="381000" cy="369332"/>
            </a:xfrm>
            <a:prstGeom prst="rect">
              <a:avLst/>
            </a:prstGeom>
            <a:solidFill>
              <a:srgbClr val="9900CC"/>
            </a:solidFill>
          </p:spPr>
          <p:txBody>
            <a:bodyPr wrap="square" rtlCol="0">
              <a:spAutoFit/>
            </a:bodyPr>
            <a:lstStyle/>
            <a:p>
              <a:pPr algn="ctr"/>
              <a:r>
                <a:rPr lang="en-IN" b="1" dirty="0">
                  <a:solidFill>
                    <a:schemeClr val="bg1"/>
                  </a:solidFill>
                </a:rPr>
                <a:t>D</a:t>
              </a:r>
            </a:p>
          </p:txBody>
        </p:sp>
        <p:sp>
          <p:nvSpPr>
            <p:cNvPr id="19" name="TextBox 18">
              <a:extLst>
                <a:ext uri="{FF2B5EF4-FFF2-40B4-BE49-F238E27FC236}">
                  <a16:creationId xmlns:a16="http://schemas.microsoft.com/office/drawing/2014/main" id="{63218E58-C7C4-4049-21C4-2221AB2385CE}"/>
                </a:ext>
              </a:extLst>
            </p:cNvPr>
            <p:cNvSpPr txBox="1"/>
            <p:nvPr/>
          </p:nvSpPr>
          <p:spPr>
            <a:xfrm>
              <a:off x="3124200" y="5262405"/>
              <a:ext cx="381000" cy="369332"/>
            </a:xfrm>
            <a:prstGeom prst="rect">
              <a:avLst/>
            </a:prstGeom>
            <a:solidFill>
              <a:srgbClr val="FF9900"/>
            </a:solidFill>
          </p:spPr>
          <p:txBody>
            <a:bodyPr wrap="square" rtlCol="0">
              <a:spAutoFit/>
            </a:bodyPr>
            <a:lstStyle/>
            <a:p>
              <a:pPr algn="ctr"/>
              <a:r>
                <a:rPr lang="en-IN" b="1" dirty="0">
                  <a:solidFill>
                    <a:schemeClr val="bg1"/>
                  </a:solidFill>
                </a:rPr>
                <a:t>I</a:t>
              </a:r>
            </a:p>
          </p:txBody>
        </p:sp>
        <p:sp>
          <p:nvSpPr>
            <p:cNvPr id="20" name="TextBox 19">
              <a:extLst>
                <a:ext uri="{FF2B5EF4-FFF2-40B4-BE49-F238E27FC236}">
                  <a16:creationId xmlns:a16="http://schemas.microsoft.com/office/drawing/2014/main" id="{C678E7A7-6288-9392-2EE3-61EE3179CA96}"/>
                </a:ext>
              </a:extLst>
            </p:cNvPr>
            <p:cNvSpPr txBox="1"/>
            <p:nvPr/>
          </p:nvSpPr>
          <p:spPr>
            <a:xfrm>
              <a:off x="3657600" y="5267010"/>
              <a:ext cx="381000" cy="369332"/>
            </a:xfrm>
            <a:prstGeom prst="rect">
              <a:avLst/>
            </a:prstGeom>
            <a:solidFill>
              <a:srgbClr val="0000FF"/>
            </a:solidFill>
          </p:spPr>
          <p:txBody>
            <a:bodyPr wrap="square" rtlCol="0">
              <a:spAutoFit/>
            </a:bodyPr>
            <a:lstStyle/>
            <a:p>
              <a:pPr algn="ctr"/>
              <a:r>
                <a:rPr lang="en-IN" b="1" dirty="0">
                  <a:solidFill>
                    <a:schemeClr val="bg1"/>
                  </a:solidFill>
                </a:rPr>
                <a:t>E</a:t>
              </a:r>
            </a:p>
          </p:txBody>
        </p:sp>
        <p:sp>
          <p:nvSpPr>
            <p:cNvPr id="21" name="TextBox 20">
              <a:extLst>
                <a:ext uri="{FF2B5EF4-FFF2-40B4-BE49-F238E27FC236}">
                  <a16:creationId xmlns:a16="http://schemas.microsoft.com/office/drawing/2014/main" id="{4F118691-85CD-52DA-A302-53EA0C05BBC5}"/>
                </a:ext>
              </a:extLst>
            </p:cNvPr>
            <p:cNvSpPr txBox="1"/>
            <p:nvPr/>
          </p:nvSpPr>
          <p:spPr>
            <a:xfrm>
              <a:off x="4154129" y="5269468"/>
              <a:ext cx="381000" cy="369332"/>
            </a:xfrm>
            <a:prstGeom prst="rect">
              <a:avLst/>
            </a:prstGeom>
            <a:solidFill>
              <a:srgbClr val="009900"/>
            </a:solidFill>
          </p:spPr>
          <p:txBody>
            <a:bodyPr wrap="square" rtlCol="0">
              <a:spAutoFit/>
            </a:bodyPr>
            <a:lstStyle/>
            <a:p>
              <a:pPr algn="ctr"/>
              <a:r>
                <a:rPr lang="en-IN" b="1" dirty="0">
                  <a:solidFill>
                    <a:schemeClr val="bg1"/>
                  </a:solidFill>
                </a:rPr>
                <a:t>T</a:t>
              </a:r>
            </a:p>
          </p:txBody>
        </p:sp>
      </p:grpSp>
      <p:sp>
        <p:nvSpPr>
          <p:cNvPr id="7" name="TextBox 6">
            <a:extLst>
              <a:ext uri="{FF2B5EF4-FFF2-40B4-BE49-F238E27FC236}">
                <a16:creationId xmlns:a16="http://schemas.microsoft.com/office/drawing/2014/main" id="{A1449E4D-DB17-7F5E-6235-671763CC9633}"/>
              </a:ext>
            </a:extLst>
          </p:cNvPr>
          <p:cNvSpPr txBox="1"/>
          <p:nvPr/>
        </p:nvSpPr>
        <p:spPr>
          <a:xfrm>
            <a:off x="320309" y="4408365"/>
            <a:ext cx="3809240" cy="646331"/>
          </a:xfrm>
          <a:prstGeom prst="rect">
            <a:avLst/>
          </a:prstGeom>
          <a:noFill/>
        </p:spPr>
        <p:txBody>
          <a:bodyPr wrap="square" rtlCol="0">
            <a:spAutoFit/>
          </a:bodyPr>
          <a:lstStyle/>
          <a:p>
            <a:pPr algn="just">
              <a:buNone/>
            </a:pPr>
            <a:r>
              <a:rPr lang="en-US" sz="1800" dirty="0">
                <a:sym typeface="+mn-ea"/>
              </a:rPr>
              <a:t>          </a:t>
            </a:r>
            <a:endParaRPr lang="en-US" sz="1800" dirty="0"/>
          </a:p>
          <a:p>
            <a:endParaRPr lang="en-IN" dirty="0"/>
          </a:p>
        </p:txBody>
      </p:sp>
      <p:sp>
        <p:nvSpPr>
          <p:cNvPr id="2" name="TextBox 1">
            <a:extLst>
              <a:ext uri="{FF2B5EF4-FFF2-40B4-BE49-F238E27FC236}">
                <a16:creationId xmlns:a16="http://schemas.microsoft.com/office/drawing/2014/main" id="{18F19E93-931A-3321-E577-DEBFB52F3818}"/>
              </a:ext>
            </a:extLst>
          </p:cNvPr>
          <p:cNvSpPr txBox="1"/>
          <p:nvPr/>
        </p:nvSpPr>
        <p:spPr>
          <a:xfrm>
            <a:off x="228600" y="1010664"/>
            <a:ext cx="2286000"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O</a:t>
            </a:r>
            <a:r>
              <a:rPr lang="en-IN" b="1" dirty="0">
                <a:latin typeface="Times New Roman" panose="02020603050405020304" pitchFamily="18" charset="0"/>
                <a:cs typeface="Times New Roman" panose="02020603050405020304" pitchFamily="18" charset="0"/>
              </a:rPr>
              <a:t>UTPUT 1</a:t>
            </a:r>
            <a:endParaRPr lang="en-IN" dirty="0"/>
          </a:p>
        </p:txBody>
      </p:sp>
      <p:pic>
        <p:nvPicPr>
          <p:cNvPr id="11" name="image2.png">
            <a:extLst>
              <a:ext uri="{FF2B5EF4-FFF2-40B4-BE49-F238E27FC236}">
                <a16:creationId xmlns:a16="http://schemas.microsoft.com/office/drawing/2014/main" id="{160B4879-0547-DEF4-CD7D-0213F508F9B8}"/>
              </a:ext>
            </a:extLst>
          </p:cNvPr>
          <p:cNvPicPr/>
          <p:nvPr/>
        </p:nvPicPr>
        <p:blipFill>
          <a:blip r:embed="rId4"/>
          <a:srcRect/>
          <a:stretch>
            <a:fillRect/>
          </a:stretch>
        </p:blipFill>
        <p:spPr>
          <a:xfrm>
            <a:off x="320309" y="1342014"/>
            <a:ext cx="8503381" cy="4220586"/>
          </a:xfrm>
          <a:prstGeom prst="rect">
            <a:avLst/>
          </a:prstGeom>
          <a:ln/>
        </p:spPr>
      </p:pic>
    </p:spTree>
    <p:extLst>
      <p:ext uri="{BB962C8B-B14F-4D97-AF65-F5344CB8AC3E}">
        <p14:creationId xmlns:p14="http://schemas.microsoft.com/office/powerpoint/2010/main" val="24327628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826C2E4-3E16-4F24-2A45-19AD2B590AFF}"/>
            </a:ext>
          </a:extLst>
        </p:cNvPr>
        <p:cNvGrpSpPr/>
        <p:nvPr/>
      </p:nvGrpSpPr>
      <p:grpSpPr>
        <a:xfrm>
          <a:off x="0" y="0"/>
          <a:ext cx="0" cy="0"/>
          <a:chOff x="0" y="0"/>
          <a:chExt cx="0" cy="0"/>
        </a:xfrm>
      </p:grpSpPr>
      <p:pic>
        <p:nvPicPr>
          <p:cNvPr id="5" name="object 5">
            <a:extLst>
              <a:ext uri="{FF2B5EF4-FFF2-40B4-BE49-F238E27FC236}">
                <a16:creationId xmlns:a16="http://schemas.microsoft.com/office/drawing/2014/main" id="{D567633E-87FF-3829-E093-32F71F25A70F}"/>
              </a:ext>
            </a:extLst>
          </p:cNvPr>
          <p:cNvPicPr/>
          <p:nvPr/>
        </p:nvPicPr>
        <p:blipFill>
          <a:blip r:embed="rId2" cstate="print"/>
          <a:stretch>
            <a:fillRect/>
          </a:stretch>
        </p:blipFill>
        <p:spPr>
          <a:xfrm>
            <a:off x="305561" y="931164"/>
            <a:ext cx="8534400" cy="39750"/>
          </a:xfrm>
          <a:prstGeom prst="rect">
            <a:avLst/>
          </a:prstGeom>
        </p:spPr>
      </p:pic>
      <p:pic>
        <p:nvPicPr>
          <p:cNvPr id="15" name="Picture 14" descr="LOGO">
            <a:extLst>
              <a:ext uri="{FF2B5EF4-FFF2-40B4-BE49-F238E27FC236}">
                <a16:creationId xmlns:a16="http://schemas.microsoft.com/office/drawing/2014/main" id="{F7A2C0CC-2570-8BDA-3C63-7C805428DBB2}"/>
              </a:ext>
            </a:extLst>
          </p:cNvPr>
          <p:cNvPicPr>
            <a:picLocks noChangeAspect="1"/>
          </p:cNvPicPr>
          <p:nvPr/>
        </p:nvPicPr>
        <p:blipFill>
          <a:blip r:embed="rId3"/>
          <a:srcRect/>
          <a:stretch>
            <a:fillRect/>
          </a:stretch>
        </p:blipFill>
        <p:spPr bwMode="auto">
          <a:xfrm>
            <a:off x="8077200" y="132704"/>
            <a:ext cx="855345" cy="626110"/>
          </a:xfrm>
          <a:prstGeom prst="rect">
            <a:avLst/>
          </a:prstGeom>
          <a:noFill/>
        </p:spPr>
      </p:pic>
      <p:grpSp>
        <p:nvGrpSpPr>
          <p:cNvPr id="17" name="Group 16">
            <a:extLst>
              <a:ext uri="{FF2B5EF4-FFF2-40B4-BE49-F238E27FC236}">
                <a16:creationId xmlns:a16="http://schemas.microsoft.com/office/drawing/2014/main" id="{43DBFFCD-6292-CDF2-F8AB-BA17A0670474}"/>
              </a:ext>
            </a:extLst>
          </p:cNvPr>
          <p:cNvGrpSpPr/>
          <p:nvPr/>
        </p:nvGrpSpPr>
        <p:grpSpPr>
          <a:xfrm>
            <a:off x="7047271" y="6324600"/>
            <a:ext cx="1944329" cy="381000"/>
            <a:chOff x="2590800" y="5257800"/>
            <a:chExt cx="1944329" cy="381000"/>
          </a:xfrm>
        </p:grpSpPr>
        <p:sp>
          <p:nvSpPr>
            <p:cNvPr id="18" name="TextBox 17">
              <a:extLst>
                <a:ext uri="{FF2B5EF4-FFF2-40B4-BE49-F238E27FC236}">
                  <a16:creationId xmlns:a16="http://schemas.microsoft.com/office/drawing/2014/main" id="{A5FAFC78-3E4D-928C-5BD4-EFE377B26DE0}"/>
                </a:ext>
              </a:extLst>
            </p:cNvPr>
            <p:cNvSpPr txBox="1"/>
            <p:nvPr/>
          </p:nvSpPr>
          <p:spPr>
            <a:xfrm>
              <a:off x="2590800" y="5257800"/>
              <a:ext cx="381000" cy="369332"/>
            </a:xfrm>
            <a:prstGeom prst="rect">
              <a:avLst/>
            </a:prstGeom>
            <a:solidFill>
              <a:srgbClr val="9900CC"/>
            </a:solidFill>
          </p:spPr>
          <p:txBody>
            <a:bodyPr wrap="square" rtlCol="0">
              <a:spAutoFit/>
            </a:bodyPr>
            <a:lstStyle/>
            <a:p>
              <a:pPr algn="ctr"/>
              <a:r>
                <a:rPr lang="en-IN" b="1" dirty="0">
                  <a:solidFill>
                    <a:schemeClr val="bg1"/>
                  </a:solidFill>
                </a:rPr>
                <a:t>D</a:t>
              </a:r>
            </a:p>
          </p:txBody>
        </p:sp>
        <p:sp>
          <p:nvSpPr>
            <p:cNvPr id="19" name="TextBox 18">
              <a:extLst>
                <a:ext uri="{FF2B5EF4-FFF2-40B4-BE49-F238E27FC236}">
                  <a16:creationId xmlns:a16="http://schemas.microsoft.com/office/drawing/2014/main" id="{7D308964-E9D9-C817-6F81-5602DCE1AB77}"/>
                </a:ext>
              </a:extLst>
            </p:cNvPr>
            <p:cNvSpPr txBox="1"/>
            <p:nvPr/>
          </p:nvSpPr>
          <p:spPr>
            <a:xfrm>
              <a:off x="3124200" y="5262405"/>
              <a:ext cx="381000" cy="369332"/>
            </a:xfrm>
            <a:prstGeom prst="rect">
              <a:avLst/>
            </a:prstGeom>
            <a:solidFill>
              <a:srgbClr val="FF9900"/>
            </a:solidFill>
          </p:spPr>
          <p:txBody>
            <a:bodyPr wrap="square" rtlCol="0">
              <a:spAutoFit/>
            </a:bodyPr>
            <a:lstStyle/>
            <a:p>
              <a:pPr algn="ctr"/>
              <a:r>
                <a:rPr lang="en-IN" b="1" dirty="0">
                  <a:solidFill>
                    <a:schemeClr val="bg1"/>
                  </a:solidFill>
                </a:rPr>
                <a:t>I</a:t>
              </a:r>
            </a:p>
          </p:txBody>
        </p:sp>
        <p:sp>
          <p:nvSpPr>
            <p:cNvPr id="20" name="TextBox 19">
              <a:extLst>
                <a:ext uri="{FF2B5EF4-FFF2-40B4-BE49-F238E27FC236}">
                  <a16:creationId xmlns:a16="http://schemas.microsoft.com/office/drawing/2014/main" id="{8CCE247D-8996-FD61-D39D-C03953CFB29B}"/>
                </a:ext>
              </a:extLst>
            </p:cNvPr>
            <p:cNvSpPr txBox="1"/>
            <p:nvPr/>
          </p:nvSpPr>
          <p:spPr>
            <a:xfrm>
              <a:off x="3657600" y="5267010"/>
              <a:ext cx="381000" cy="369332"/>
            </a:xfrm>
            <a:prstGeom prst="rect">
              <a:avLst/>
            </a:prstGeom>
            <a:solidFill>
              <a:srgbClr val="0000FF"/>
            </a:solidFill>
          </p:spPr>
          <p:txBody>
            <a:bodyPr wrap="square" rtlCol="0">
              <a:spAutoFit/>
            </a:bodyPr>
            <a:lstStyle/>
            <a:p>
              <a:pPr algn="ctr"/>
              <a:r>
                <a:rPr lang="en-IN" b="1" dirty="0">
                  <a:solidFill>
                    <a:schemeClr val="bg1"/>
                  </a:solidFill>
                </a:rPr>
                <a:t>E</a:t>
              </a:r>
            </a:p>
          </p:txBody>
        </p:sp>
        <p:sp>
          <p:nvSpPr>
            <p:cNvPr id="21" name="TextBox 20">
              <a:extLst>
                <a:ext uri="{FF2B5EF4-FFF2-40B4-BE49-F238E27FC236}">
                  <a16:creationId xmlns:a16="http://schemas.microsoft.com/office/drawing/2014/main" id="{138680DA-834F-F005-43F2-40DB177288CD}"/>
                </a:ext>
              </a:extLst>
            </p:cNvPr>
            <p:cNvSpPr txBox="1"/>
            <p:nvPr/>
          </p:nvSpPr>
          <p:spPr>
            <a:xfrm>
              <a:off x="4154129" y="5269468"/>
              <a:ext cx="381000" cy="369332"/>
            </a:xfrm>
            <a:prstGeom prst="rect">
              <a:avLst/>
            </a:prstGeom>
            <a:solidFill>
              <a:srgbClr val="009900"/>
            </a:solidFill>
          </p:spPr>
          <p:txBody>
            <a:bodyPr wrap="square" rtlCol="0">
              <a:spAutoFit/>
            </a:bodyPr>
            <a:lstStyle/>
            <a:p>
              <a:pPr algn="ctr"/>
              <a:r>
                <a:rPr lang="en-IN" b="1" dirty="0">
                  <a:solidFill>
                    <a:schemeClr val="bg1"/>
                  </a:solidFill>
                </a:rPr>
                <a:t>T</a:t>
              </a:r>
            </a:p>
          </p:txBody>
        </p:sp>
      </p:grpSp>
      <p:sp>
        <p:nvSpPr>
          <p:cNvPr id="7" name="TextBox 6">
            <a:extLst>
              <a:ext uri="{FF2B5EF4-FFF2-40B4-BE49-F238E27FC236}">
                <a16:creationId xmlns:a16="http://schemas.microsoft.com/office/drawing/2014/main" id="{DEE735FB-9D76-F776-70A7-F936822A8AC3}"/>
              </a:ext>
            </a:extLst>
          </p:cNvPr>
          <p:cNvSpPr txBox="1"/>
          <p:nvPr/>
        </p:nvSpPr>
        <p:spPr>
          <a:xfrm>
            <a:off x="320309" y="4408365"/>
            <a:ext cx="3809240" cy="646331"/>
          </a:xfrm>
          <a:prstGeom prst="rect">
            <a:avLst/>
          </a:prstGeom>
          <a:noFill/>
        </p:spPr>
        <p:txBody>
          <a:bodyPr wrap="square" rtlCol="0">
            <a:spAutoFit/>
          </a:bodyPr>
          <a:lstStyle/>
          <a:p>
            <a:pPr algn="just">
              <a:buNone/>
            </a:pPr>
            <a:r>
              <a:rPr lang="en-US" sz="1800" dirty="0">
                <a:sym typeface="+mn-ea"/>
              </a:rPr>
              <a:t>          </a:t>
            </a:r>
            <a:endParaRPr lang="en-US" sz="1800" dirty="0"/>
          </a:p>
          <a:p>
            <a:endParaRPr lang="en-IN" dirty="0"/>
          </a:p>
        </p:txBody>
      </p:sp>
      <p:sp>
        <p:nvSpPr>
          <p:cNvPr id="2" name="TextBox 1">
            <a:extLst>
              <a:ext uri="{FF2B5EF4-FFF2-40B4-BE49-F238E27FC236}">
                <a16:creationId xmlns:a16="http://schemas.microsoft.com/office/drawing/2014/main" id="{372CCAC3-3242-8E43-B609-094DA3393031}"/>
              </a:ext>
            </a:extLst>
          </p:cNvPr>
          <p:cNvSpPr txBox="1"/>
          <p:nvPr/>
        </p:nvSpPr>
        <p:spPr>
          <a:xfrm>
            <a:off x="305561" y="1049179"/>
            <a:ext cx="2285271"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OUTPUT 2</a:t>
            </a:r>
            <a:endParaRPr lang="en-IN" sz="2000" b="1" dirty="0">
              <a:latin typeface="Times New Roman" panose="02020603050405020304" pitchFamily="18" charset="0"/>
              <a:cs typeface="Times New Roman" panose="02020603050405020304" pitchFamily="18" charset="0"/>
            </a:endParaRPr>
          </a:p>
        </p:txBody>
      </p:sp>
      <p:pic>
        <p:nvPicPr>
          <p:cNvPr id="4" name="image3.png">
            <a:extLst>
              <a:ext uri="{FF2B5EF4-FFF2-40B4-BE49-F238E27FC236}">
                <a16:creationId xmlns:a16="http://schemas.microsoft.com/office/drawing/2014/main" id="{D8A42D74-6F6C-88BA-956F-B5105CF8D680}"/>
              </a:ext>
            </a:extLst>
          </p:cNvPr>
          <p:cNvPicPr/>
          <p:nvPr/>
        </p:nvPicPr>
        <p:blipFill>
          <a:blip r:embed="rId4"/>
          <a:srcRect/>
          <a:stretch>
            <a:fillRect/>
          </a:stretch>
        </p:blipFill>
        <p:spPr>
          <a:xfrm>
            <a:off x="335057" y="1449288"/>
            <a:ext cx="8597488" cy="4189512"/>
          </a:xfrm>
          <a:prstGeom prst="rect">
            <a:avLst/>
          </a:prstGeom>
          <a:ln/>
        </p:spPr>
      </p:pic>
    </p:spTree>
    <p:extLst>
      <p:ext uri="{BB962C8B-B14F-4D97-AF65-F5344CB8AC3E}">
        <p14:creationId xmlns:p14="http://schemas.microsoft.com/office/powerpoint/2010/main" val="27589280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ACCC5A6-14D3-6FD8-9384-1B5CB7D71E24}"/>
            </a:ext>
          </a:extLst>
        </p:cNvPr>
        <p:cNvGrpSpPr/>
        <p:nvPr/>
      </p:nvGrpSpPr>
      <p:grpSpPr>
        <a:xfrm>
          <a:off x="0" y="0"/>
          <a:ext cx="0" cy="0"/>
          <a:chOff x="0" y="0"/>
          <a:chExt cx="0" cy="0"/>
        </a:xfrm>
      </p:grpSpPr>
      <p:pic>
        <p:nvPicPr>
          <p:cNvPr id="5" name="object 5">
            <a:extLst>
              <a:ext uri="{FF2B5EF4-FFF2-40B4-BE49-F238E27FC236}">
                <a16:creationId xmlns:a16="http://schemas.microsoft.com/office/drawing/2014/main" id="{B11C6518-EC7E-DCE9-F704-22B60D90F10B}"/>
              </a:ext>
            </a:extLst>
          </p:cNvPr>
          <p:cNvPicPr/>
          <p:nvPr/>
        </p:nvPicPr>
        <p:blipFill>
          <a:blip r:embed="rId2" cstate="print"/>
          <a:stretch>
            <a:fillRect/>
          </a:stretch>
        </p:blipFill>
        <p:spPr>
          <a:xfrm>
            <a:off x="305561" y="931164"/>
            <a:ext cx="8534400" cy="39750"/>
          </a:xfrm>
          <a:prstGeom prst="rect">
            <a:avLst/>
          </a:prstGeom>
        </p:spPr>
      </p:pic>
      <p:pic>
        <p:nvPicPr>
          <p:cNvPr id="15" name="Picture 14" descr="LOGO">
            <a:extLst>
              <a:ext uri="{FF2B5EF4-FFF2-40B4-BE49-F238E27FC236}">
                <a16:creationId xmlns:a16="http://schemas.microsoft.com/office/drawing/2014/main" id="{D3E414AC-6181-61E3-6223-78456A6B0231}"/>
              </a:ext>
            </a:extLst>
          </p:cNvPr>
          <p:cNvPicPr>
            <a:picLocks noChangeAspect="1"/>
          </p:cNvPicPr>
          <p:nvPr/>
        </p:nvPicPr>
        <p:blipFill>
          <a:blip r:embed="rId3"/>
          <a:srcRect/>
          <a:stretch>
            <a:fillRect/>
          </a:stretch>
        </p:blipFill>
        <p:spPr bwMode="auto">
          <a:xfrm>
            <a:off x="8077200" y="132704"/>
            <a:ext cx="855345" cy="626110"/>
          </a:xfrm>
          <a:prstGeom prst="rect">
            <a:avLst/>
          </a:prstGeom>
          <a:noFill/>
        </p:spPr>
      </p:pic>
      <p:grpSp>
        <p:nvGrpSpPr>
          <p:cNvPr id="17" name="Group 16">
            <a:extLst>
              <a:ext uri="{FF2B5EF4-FFF2-40B4-BE49-F238E27FC236}">
                <a16:creationId xmlns:a16="http://schemas.microsoft.com/office/drawing/2014/main" id="{46C52CC3-5F8E-0F8A-C8D9-17914CA7D685}"/>
              </a:ext>
            </a:extLst>
          </p:cNvPr>
          <p:cNvGrpSpPr/>
          <p:nvPr/>
        </p:nvGrpSpPr>
        <p:grpSpPr>
          <a:xfrm>
            <a:off x="7047271" y="6324600"/>
            <a:ext cx="1944329" cy="381000"/>
            <a:chOff x="2590800" y="5257800"/>
            <a:chExt cx="1944329" cy="381000"/>
          </a:xfrm>
        </p:grpSpPr>
        <p:sp>
          <p:nvSpPr>
            <p:cNvPr id="18" name="TextBox 17">
              <a:extLst>
                <a:ext uri="{FF2B5EF4-FFF2-40B4-BE49-F238E27FC236}">
                  <a16:creationId xmlns:a16="http://schemas.microsoft.com/office/drawing/2014/main" id="{12BABBA2-BBBA-B091-8286-C1E3F6DC4C8F}"/>
                </a:ext>
              </a:extLst>
            </p:cNvPr>
            <p:cNvSpPr txBox="1"/>
            <p:nvPr/>
          </p:nvSpPr>
          <p:spPr>
            <a:xfrm>
              <a:off x="2590800" y="5257800"/>
              <a:ext cx="381000" cy="369332"/>
            </a:xfrm>
            <a:prstGeom prst="rect">
              <a:avLst/>
            </a:prstGeom>
            <a:solidFill>
              <a:srgbClr val="9900CC"/>
            </a:solidFill>
          </p:spPr>
          <p:txBody>
            <a:bodyPr wrap="square" rtlCol="0">
              <a:spAutoFit/>
            </a:bodyPr>
            <a:lstStyle/>
            <a:p>
              <a:pPr algn="ctr"/>
              <a:r>
                <a:rPr lang="en-IN" b="1" dirty="0">
                  <a:solidFill>
                    <a:schemeClr val="bg1"/>
                  </a:solidFill>
                </a:rPr>
                <a:t>D</a:t>
              </a:r>
            </a:p>
          </p:txBody>
        </p:sp>
        <p:sp>
          <p:nvSpPr>
            <p:cNvPr id="19" name="TextBox 18">
              <a:extLst>
                <a:ext uri="{FF2B5EF4-FFF2-40B4-BE49-F238E27FC236}">
                  <a16:creationId xmlns:a16="http://schemas.microsoft.com/office/drawing/2014/main" id="{9DC6C06F-CF9E-43F4-8BCB-71F263A13147}"/>
                </a:ext>
              </a:extLst>
            </p:cNvPr>
            <p:cNvSpPr txBox="1"/>
            <p:nvPr/>
          </p:nvSpPr>
          <p:spPr>
            <a:xfrm>
              <a:off x="3124200" y="5262405"/>
              <a:ext cx="381000" cy="369332"/>
            </a:xfrm>
            <a:prstGeom prst="rect">
              <a:avLst/>
            </a:prstGeom>
            <a:solidFill>
              <a:srgbClr val="FF9900"/>
            </a:solidFill>
          </p:spPr>
          <p:txBody>
            <a:bodyPr wrap="square" rtlCol="0">
              <a:spAutoFit/>
            </a:bodyPr>
            <a:lstStyle/>
            <a:p>
              <a:pPr algn="ctr"/>
              <a:r>
                <a:rPr lang="en-IN" b="1" dirty="0">
                  <a:solidFill>
                    <a:schemeClr val="bg1"/>
                  </a:solidFill>
                </a:rPr>
                <a:t>I</a:t>
              </a:r>
            </a:p>
          </p:txBody>
        </p:sp>
        <p:sp>
          <p:nvSpPr>
            <p:cNvPr id="20" name="TextBox 19">
              <a:extLst>
                <a:ext uri="{FF2B5EF4-FFF2-40B4-BE49-F238E27FC236}">
                  <a16:creationId xmlns:a16="http://schemas.microsoft.com/office/drawing/2014/main" id="{2AF69B47-DE4E-D0EB-82D0-990C330BA2FD}"/>
                </a:ext>
              </a:extLst>
            </p:cNvPr>
            <p:cNvSpPr txBox="1"/>
            <p:nvPr/>
          </p:nvSpPr>
          <p:spPr>
            <a:xfrm>
              <a:off x="3657600" y="5267010"/>
              <a:ext cx="381000" cy="369332"/>
            </a:xfrm>
            <a:prstGeom prst="rect">
              <a:avLst/>
            </a:prstGeom>
            <a:solidFill>
              <a:srgbClr val="0000FF"/>
            </a:solidFill>
          </p:spPr>
          <p:txBody>
            <a:bodyPr wrap="square" rtlCol="0">
              <a:spAutoFit/>
            </a:bodyPr>
            <a:lstStyle/>
            <a:p>
              <a:pPr algn="ctr"/>
              <a:r>
                <a:rPr lang="en-IN" b="1" dirty="0">
                  <a:solidFill>
                    <a:schemeClr val="bg1"/>
                  </a:solidFill>
                </a:rPr>
                <a:t>E</a:t>
              </a:r>
            </a:p>
          </p:txBody>
        </p:sp>
        <p:sp>
          <p:nvSpPr>
            <p:cNvPr id="21" name="TextBox 20">
              <a:extLst>
                <a:ext uri="{FF2B5EF4-FFF2-40B4-BE49-F238E27FC236}">
                  <a16:creationId xmlns:a16="http://schemas.microsoft.com/office/drawing/2014/main" id="{7668F540-D671-1C91-19C1-A80DF4A52A54}"/>
                </a:ext>
              </a:extLst>
            </p:cNvPr>
            <p:cNvSpPr txBox="1"/>
            <p:nvPr/>
          </p:nvSpPr>
          <p:spPr>
            <a:xfrm>
              <a:off x="4154129" y="5269468"/>
              <a:ext cx="381000" cy="369332"/>
            </a:xfrm>
            <a:prstGeom prst="rect">
              <a:avLst/>
            </a:prstGeom>
            <a:solidFill>
              <a:srgbClr val="009900"/>
            </a:solidFill>
          </p:spPr>
          <p:txBody>
            <a:bodyPr wrap="square" rtlCol="0">
              <a:spAutoFit/>
            </a:bodyPr>
            <a:lstStyle/>
            <a:p>
              <a:pPr algn="ctr"/>
              <a:r>
                <a:rPr lang="en-IN" b="1" dirty="0">
                  <a:solidFill>
                    <a:schemeClr val="bg1"/>
                  </a:solidFill>
                </a:rPr>
                <a:t>T</a:t>
              </a:r>
            </a:p>
          </p:txBody>
        </p:sp>
      </p:grpSp>
      <p:sp>
        <p:nvSpPr>
          <p:cNvPr id="7" name="TextBox 6">
            <a:extLst>
              <a:ext uri="{FF2B5EF4-FFF2-40B4-BE49-F238E27FC236}">
                <a16:creationId xmlns:a16="http://schemas.microsoft.com/office/drawing/2014/main" id="{DABF3286-8353-2C3A-E2D2-29F07BE22E17}"/>
              </a:ext>
            </a:extLst>
          </p:cNvPr>
          <p:cNvSpPr txBox="1"/>
          <p:nvPr/>
        </p:nvSpPr>
        <p:spPr>
          <a:xfrm>
            <a:off x="320309" y="4408365"/>
            <a:ext cx="3809240" cy="646331"/>
          </a:xfrm>
          <a:prstGeom prst="rect">
            <a:avLst/>
          </a:prstGeom>
          <a:noFill/>
        </p:spPr>
        <p:txBody>
          <a:bodyPr wrap="square" rtlCol="0">
            <a:spAutoFit/>
          </a:bodyPr>
          <a:lstStyle/>
          <a:p>
            <a:pPr algn="just">
              <a:buNone/>
            </a:pPr>
            <a:r>
              <a:rPr lang="en-US" sz="1800" dirty="0">
                <a:sym typeface="+mn-ea"/>
              </a:rPr>
              <a:t>          </a:t>
            </a:r>
            <a:endParaRPr lang="en-US" sz="1800" dirty="0"/>
          </a:p>
          <a:p>
            <a:endParaRPr lang="en-IN" dirty="0"/>
          </a:p>
        </p:txBody>
      </p:sp>
      <p:sp>
        <p:nvSpPr>
          <p:cNvPr id="2" name="TextBox 1">
            <a:extLst>
              <a:ext uri="{FF2B5EF4-FFF2-40B4-BE49-F238E27FC236}">
                <a16:creationId xmlns:a16="http://schemas.microsoft.com/office/drawing/2014/main" id="{4B0909EE-E32B-A615-B621-DFAC861639F2}"/>
              </a:ext>
            </a:extLst>
          </p:cNvPr>
          <p:cNvSpPr txBox="1"/>
          <p:nvPr/>
        </p:nvSpPr>
        <p:spPr>
          <a:xfrm>
            <a:off x="152400" y="1047690"/>
            <a:ext cx="2956291"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CONCLUSION</a:t>
            </a:r>
            <a:endParaRPr lang="en-IN" sz="20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1AF66C8-56BD-E97C-F332-0B6A6554368E}"/>
              </a:ext>
            </a:extLst>
          </p:cNvPr>
          <p:cNvSpPr txBox="1"/>
          <p:nvPr/>
        </p:nvSpPr>
        <p:spPr>
          <a:xfrm>
            <a:off x="228599" y="1639950"/>
            <a:ext cx="8611361" cy="3416320"/>
          </a:xfrm>
          <a:prstGeom prst="rect">
            <a:avLst/>
          </a:prstGeom>
          <a:noFill/>
        </p:spPr>
        <p:txBody>
          <a:bodyPr wrap="square" rtlCol="0">
            <a:spAutoFit/>
          </a:bodyPr>
          <a:lstStyle/>
          <a:p>
            <a:pPr algn="just"/>
            <a:r>
              <a:rPr lang="en-US" sz="1800" dirty="0">
                <a:latin typeface="Times New Roman" panose="02020603050405020304" pitchFamily="18" charset="0"/>
                <a:cs typeface="Times New Roman" panose="02020603050405020304" pitchFamily="18" charset="0"/>
              </a:rPr>
              <a:t>The " Transportation Demand Prediction " project leverages predictive modeling to forecast ticket bookings based on historical data. By implementing various regression algorithms and integrating them into a user-friendly web interface, the project aims to provide accurate predictions and valuable insights for booking management. The project includes extensive testing, such as unit, integration, functional, performance, usability, security, regression, and acceptance testing, to guarantee dependability, performance, and usability. Future improvements could include enhanced modeling techniques, real-time data processing, mobile support, and advanced analytics. With a clear focus on robust system design, effective data handling, and user-friendly interactions, the project aims to deliver a reliable and insightful ticket booking prediction tool that meets the needs of its users and stakeholders.</a:t>
            </a:r>
            <a:endParaRPr lang="en-IN" sz="18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4836729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208</TotalTime>
  <Words>1400</Words>
  <Application>Microsoft Office PowerPoint</Application>
  <PresentationFormat>On-screen Show (4:3)</PresentationFormat>
  <Paragraphs>149</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Consolas</vt:lpstr>
      <vt:lpstr>Noto Sans Symbols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Nalini Anand</dc:creator>
  <cp:lastModifiedBy>KONA ANAND</cp:lastModifiedBy>
  <cp:revision>5</cp:revision>
  <dcterms:created xsi:type="dcterms:W3CDTF">2024-01-31T13:33:25Z</dcterms:created>
  <dcterms:modified xsi:type="dcterms:W3CDTF">2025-03-14T14:35:55Z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2019-09-19T00:00:00Z</vt:filetime>
  </property>
  <property fmtid="{D5CDD505-2E9C-101B-9397-08002B2CF9AE}" pid="3" name="Creator">
    <vt:lpwstr>Microsoft® PowerPoint® 2013</vt:lpwstr>
  </property>
  <property fmtid="{D5CDD505-2E9C-101B-9397-08002B2CF9AE}" pid="4" name="LastSaved">
    <vt:filetime>2024-01-31T00:00:00Z</vt:filetime>
  </property>
  <property fmtid="{D5CDD505-2E9C-101B-9397-08002B2CF9AE}" pid="5" name="Producer">
    <vt:lpwstr>Microsoft® PowerPoint® 2013</vt:lpwstr>
  </property>
</Properties>
</file>